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4c5c0302724352" /><Relationship Type="http://schemas.openxmlformats.org/officeDocument/2006/relationships/extended-properties" Target="/docProps/app.xml" Id="R5a41d0462afa4fd9" /><Relationship Type="http://schemas.openxmlformats.org/officeDocument/2006/relationships/officeDocument" Target="/ppt/presentation.xml" Id="R751d66ccf03740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14e743597e4907"/>
  </p:sldMasterIdLst>
  <p:notesMasterIdLst>
    <p:notesMasterId xmlns:r="http://schemas.openxmlformats.org/officeDocument/2006/relationships" r:id="Ra6e89b22f92c4d41"/>
  </p:notesMasterIdLst>
  <p:sldIdLst>
    <p:sldId xmlns:r="http://schemas.openxmlformats.org/officeDocument/2006/relationships" id="256" r:id="Rab0bec78288b4007"/>
    <p:sldId xmlns:r="http://schemas.openxmlformats.org/officeDocument/2006/relationships" id="257" r:id="R07c9ba93c1df40de"/>
    <p:sldId xmlns:r="http://schemas.openxmlformats.org/officeDocument/2006/relationships" id="258" r:id="Rb36d7c214d7a48fc"/>
    <p:sldId xmlns:r="http://schemas.openxmlformats.org/officeDocument/2006/relationships" id="259" r:id="R3b60cde2d0ec424d"/>
    <p:sldId xmlns:r="http://schemas.openxmlformats.org/officeDocument/2006/relationships" id="260" r:id="R136c532af452493e"/>
    <p:sldId xmlns:r="http://schemas.openxmlformats.org/officeDocument/2006/relationships" id="261" r:id="R73e570de6dce442f"/>
    <p:sldId xmlns:r="http://schemas.openxmlformats.org/officeDocument/2006/relationships" id="262" r:id="Ree1f77033f954cc0"/>
    <p:sldId xmlns:r="http://schemas.openxmlformats.org/officeDocument/2006/relationships" id="263" r:id="R6fcdc4171a614303"/>
    <p:sldId xmlns:r="http://schemas.openxmlformats.org/officeDocument/2006/relationships" id="264" r:id="R912790a0e11a412e"/>
    <p:sldId xmlns:r="http://schemas.openxmlformats.org/officeDocument/2006/relationships" id="265" r:id="R9e3476bd8c96440c"/>
    <p:sldId xmlns:r="http://schemas.openxmlformats.org/officeDocument/2006/relationships" id="266" r:id="Rc19318381d0d462a"/>
    <p:sldId xmlns:r="http://schemas.openxmlformats.org/officeDocument/2006/relationships" id="267" r:id="R41961448da9441c9"/>
    <p:sldId xmlns:r="http://schemas.openxmlformats.org/officeDocument/2006/relationships" id="268" r:id="R389598eb58764e7b"/>
    <p:sldId xmlns:r="http://schemas.openxmlformats.org/officeDocument/2006/relationships" id="269" r:id="R273a81b4ded746e6"/>
    <p:sldId xmlns:r="http://schemas.openxmlformats.org/officeDocument/2006/relationships" id="270" r:id="Rb54b4ff2c513418c"/>
    <p:sldId xmlns:r="http://schemas.openxmlformats.org/officeDocument/2006/relationships" id="271" r:id="R074f669020cd4900"/>
    <p:sldId xmlns:r="http://schemas.openxmlformats.org/officeDocument/2006/relationships" id="272" r:id="R3d8a9c4f50fb423b"/>
    <p:sldId xmlns:r="http://schemas.openxmlformats.org/officeDocument/2006/relationships" id="273" r:id="Ref07661058594f3d"/>
    <p:sldId xmlns:r="http://schemas.openxmlformats.org/officeDocument/2006/relationships" id="274" r:id="Rbfae379add5c41e7"/>
    <p:sldId xmlns:r="http://schemas.openxmlformats.org/officeDocument/2006/relationships" id="275" r:id="R43f2b29a30534ffb"/>
    <p:sldId xmlns:r="http://schemas.openxmlformats.org/officeDocument/2006/relationships" id="276" r:id="R09203b09d1db4a2b"/>
    <p:sldId xmlns:r="http://schemas.openxmlformats.org/officeDocument/2006/relationships" id="277" r:id="R450c9d79a57a451b"/>
    <p:sldId xmlns:r="http://schemas.openxmlformats.org/officeDocument/2006/relationships" id="278" r:id="R11bd01cfd961428e"/>
    <p:sldId xmlns:r="http://schemas.openxmlformats.org/officeDocument/2006/relationships" id="279" r:id="R64f7fc220c4b421c"/>
    <p:sldId xmlns:r="http://schemas.openxmlformats.org/officeDocument/2006/relationships" id="280" r:id="R3624b30125a340e2"/>
    <p:sldId xmlns:r="http://schemas.openxmlformats.org/officeDocument/2006/relationships" id="281" r:id="R25810280e01b4e2a"/>
    <p:sldId xmlns:r="http://schemas.openxmlformats.org/officeDocument/2006/relationships" id="282" r:id="R0deea4341cc248d4"/>
    <p:sldId xmlns:r="http://schemas.openxmlformats.org/officeDocument/2006/relationships" id="283" r:id="R82d2629415fa46e8"/>
    <p:sldId xmlns:r="http://schemas.openxmlformats.org/officeDocument/2006/relationships" id="284" r:id="R0c73584e222f45db"/>
    <p:sldId xmlns:r="http://schemas.openxmlformats.org/officeDocument/2006/relationships" id="285" r:id="Rf33a250f128a4f66"/>
    <p:sldId xmlns:r="http://schemas.openxmlformats.org/officeDocument/2006/relationships" id="286" r:id="Re9596e4754a248a5"/>
    <p:sldId xmlns:r="http://schemas.openxmlformats.org/officeDocument/2006/relationships" id="287" r:id="Raf988171867f4b93"/>
    <p:sldId xmlns:r="http://schemas.openxmlformats.org/officeDocument/2006/relationships" id="288" r:id="R47be4eed42df4c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a31272c98546fa" /><Relationship Type="http://schemas.openxmlformats.org/officeDocument/2006/relationships/slideMaster" Target="/ppt/slideMasters/slideMaster1.xml" Id="Rcc14e743597e4907" /><Relationship Type="http://schemas.openxmlformats.org/officeDocument/2006/relationships/notesMaster" Target="/ppt/notesMasters/notesMaster1.xml" Id="Ra6e89b22f92c4d41" /><Relationship Type="http://schemas.openxmlformats.org/officeDocument/2006/relationships/presProps" Target="/ppt/presProps.xml" Id="R605a6dce7ef441e6" /><Relationship Type="http://schemas.openxmlformats.org/officeDocument/2006/relationships/tableStyles" Target="/ppt/tableStyles.xml" Id="Re440c4aced7f48ed" /><Relationship Type="http://schemas.openxmlformats.org/officeDocument/2006/relationships/slide" Target="/ppt/slides/slide1.xml" Id="Rab0bec78288b4007" /><Relationship Type="http://schemas.openxmlformats.org/officeDocument/2006/relationships/slide" Target="/ppt/slides/slide2.xml" Id="R07c9ba93c1df40de" /><Relationship Type="http://schemas.openxmlformats.org/officeDocument/2006/relationships/slide" Target="/ppt/slides/slide3.xml" Id="Rb36d7c214d7a48fc" /><Relationship Type="http://schemas.openxmlformats.org/officeDocument/2006/relationships/slide" Target="/ppt/slides/slide4.xml" Id="R3b60cde2d0ec424d" /><Relationship Type="http://schemas.openxmlformats.org/officeDocument/2006/relationships/slide" Target="/ppt/slides/slide5.xml" Id="R136c532af452493e" /><Relationship Type="http://schemas.openxmlformats.org/officeDocument/2006/relationships/slide" Target="/ppt/slides/slide6.xml" Id="R73e570de6dce442f" /><Relationship Type="http://schemas.openxmlformats.org/officeDocument/2006/relationships/slide" Target="/ppt/slides/slide7.xml" Id="Ree1f77033f954cc0" /><Relationship Type="http://schemas.openxmlformats.org/officeDocument/2006/relationships/slide" Target="/ppt/slides/slide8.xml" Id="R6fcdc4171a614303" /><Relationship Type="http://schemas.openxmlformats.org/officeDocument/2006/relationships/slide" Target="/ppt/slides/slide9.xml" Id="R912790a0e11a412e" /><Relationship Type="http://schemas.openxmlformats.org/officeDocument/2006/relationships/slide" Target="/ppt/slides/slide10.xml" Id="R9e3476bd8c96440c" /><Relationship Type="http://schemas.openxmlformats.org/officeDocument/2006/relationships/slide" Target="/ppt/slides/slide11.xml" Id="Rc19318381d0d462a" /><Relationship Type="http://schemas.openxmlformats.org/officeDocument/2006/relationships/slide" Target="/ppt/slides/slide12.xml" Id="R41961448da9441c9" /><Relationship Type="http://schemas.openxmlformats.org/officeDocument/2006/relationships/slide" Target="/ppt/slides/slide13.xml" Id="R389598eb58764e7b" /><Relationship Type="http://schemas.openxmlformats.org/officeDocument/2006/relationships/slide" Target="/ppt/slides/slide14.xml" Id="R273a81b4ded746e6" /><Relationship Type="http://schemas.openxmlformats.org/officeDocument/2006/relationships/slide" Target="/ppt/slides/slide15.xml" Id="Rb54b4ff2c513418c" /><Relationship Type="http://schemas.openxmlformats.org/officeDocument/2006/relationships/slide" Target="/ppt/slides/slide16.xml" Id="R074f669020cd4900" /><Relationship Type="http://schemas.openxmlformats.org/officeDocument/2006/relationships/slide" Target="/ppt/slides/slide17.xml" Id="R3d8a9c4f50fb423b" /><Relationship Type="http://schemas.openxmlformats.org/officeDocument/2006/relationships/slide" Target="/ppt/slides/slide18.xml" Id="Ref07661058594f3d" /><Relationship Type="http://schemas.openxmlformats.org/officeDocument/2006/relationships/slide" Target="/ppt/slides/slide19.xml" Id="Rbfae379add5c41e7" /><Relationship Type="http://schemas.openxmlformats.org/officeDocument/2006/relationships/slide" Target="/ppt/slides/slide20.xml" Id="R43f2b29a30534ffb" /><Relationship Type="http://schemas.openxmlformats.org/officeDocument/2006/relationships/slide" Target="/ppt/slides/slide21.xml" Id="R09203b09d1db4a2b" /><Relationship Type="http://schemas.openxmlformats.org/officeDocument/2006/relationships/slide" Target="/ppt/slides/slide22.xml" Id="R450c9d79a57a451b" /><Relationship Type="http://schemas.openxmlformats.org/officeDocument/2006/relationships/slide" Target="/ppt/slides/slide23.xml" Id="R11bd01cfd961428e" /><Relationship Type="http://schemas.openxmlformats.org/officeDocument/2006/relationships/slide" Target="/ppt/slides/slide24.xml" Id="R64f7fc220c4b421c" /><Relationship Type="http://schemas.openxmlformats.org/officeDocument/2006/relationships/slide" Target="/ppt/slides/slide25.xml" Id="R3624b30125a340e2" /><Relationship Type="http://schemas.openxmlformats.org/officeDocument/2006/relationships/slide" Target="/ppt/slides/slide26.xml" Id="R25810280e01b4e2a" /><Relationship Type="http://schemas.openxmlformats.org/officeDocument/2006/relationships/slide" Target="/ppt/slides/slide27.xml" Id="R0deea4341cc248d4" /><Relationship Type="http://schemas.openxmlformats.org/officeDocument/2006/relationships/slide" Target="/ppt/slides/slide28.xml" Id="R82d2629415fa46e8" /><Relationship Type="http://schemas.openxmlformats.org/officeDocument/2006/relationships/slide" Target="/ppt/slides/slide29.xml" Id="R0c73584e222f45db" /><Relationship Type="http://schemas.openxmlformats.org/officeDocument/2006/relationships/slide" Target="/ppt/slides/slide30.xml" Id="Rf33a250f128a4f66" /><Relationship Type="http://schemas.openxmlformats.org/officeDocument/2006/relationships/slide" Target="/ppt/slides/slide31.xml" Id="Re9596e4754a248a5" /><Relationship Type="http://schemas.openxmlformats.org/officeDocument/2006/relationships/slide" Target="/ppt/slides/slide32.xml" Id="Raf988171867f4b93" /><Relationship Type="http://schemas.openxmlformats.org/officeDocument/2006/relationships/slide" Target="/ppt/slides/slide33.xml" Id="R47be4eed42df4c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1a6946ee9a4c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a0bebd688e4566" /><Relationship Type="http://schemas.openxmlformats.org/officeDocument/2006/relationships/notesMaster" Target="/ppt/notesMasters/notesMaster1.xml" Id="Rd1514081b7de4c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5cf3b1d4264078" /><Relationship Type="http://schemas.openxmlformats.org/officeDocument/2006/relationships/notesMaster" Target="/ppt/notesMasters/notesMaster1.xml" Id="R3cb29e51036a4f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834a49d83f43b4" /><Relationship Type="http://schemas.openxmlformats.org/officeDocument/2006/relationships/notesMaster" Target="/ppt/notesMasters/notesMaster1.xml" Id="R42f9315f5e724b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b8f1d567344583" /><Relationship Type="http://schemas.openxmlformats.org/officeDocument/2006/relationships/notesMaster" Target="/ppt/notesMasters/notesMaster1.xml" Id="R6a02cd3b34334d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c68be9317c4f93" /><Relationship Type="http://schemas.openxmlformats.org/officeDocument/2006/relationships/notesMaster" Target="/ppt/notesMasters/notesMaster1.xml" Id="Raba3836a513b45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7cd68c547a492f" /><Relationship Type="http://schemas.openxmlformats.org/officeDocument/2006/relationships/notesMaster" Target="/ppt/notesMasters/notesMaster1.xml" Id="R56d1003c561445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e39e76a96d4852" /><Relationship Type="http://schemas.openxmlformats.org/officeDocument/2006/relationships/notesMaster" Target="/ppt/notesMasters/notesMaster1.xml" Id="R3bb89d86e90641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4d6b0ebdeb4531" /><Relationship Type="http://schemas.openxmlformats.org/officeDocument/2006/relationships/notesMaster" Target="/ppt/notesMasters/notesMaster1.xml" Id="Rd4e7f1819b5648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cff38ff94b4cfc" /><Relationship Type="http://schemas.openxmlformats.org/officeDocument/2006/relationships/notesMaster" Target="/ppt/notesMasters/notesMaster1.xml" Id="Re4596f78d3e841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eadaf144de4bea" /><Relationship Type="http://schemas.openxmlformats.org/officeDocument/2006/relationships/notesMaster" Target="/ppt/notesMasters/notesMaster1.xml" Id="Re68c42f6703d4e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4b4b1465864daf" /><Relationship Type="http://schemas.openxmlformats.org/officeDocument/2006/relationships/notesMaster" Target="/ppt/notesMasters/notesMaster1.xml" Id="R5cdb53d6a57b47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d68aa7bad244f6" /><Relationship Type="http://schemas.openxmlformats.org/officeDocument/2006/relationships/notesMaster" Target="/ppt/notesMasters/notesMaster1.xml" Id="R9f0f355acd324d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8db712c5bb4439" /><Relationship Type="http://schemas.openxmlformats.org/officeDocument/2006/relationships/notesMaster" Target="/ppt/notesMasters/notesMaster1.xml" Id="R8055325fdcc745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6fad7d076a46f5" /><Relationship Type="http://schemas.openxmlformats.org/officeDocument/2006/relationships/notesMaster" Target="/ppt/notesMasters/notesMaster1.xml" Id="R60030f959aaa461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101331f7cc4543" /><Relationship Type="http://schemas.openxmlformats.org/officeDocument/2006/relationships/notesMaster" Target="/ppt/notesMasters/notesMaster1.xml" Id="R91fc49e8dd1c4d0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0020bd138b42b5" /><Relationship Type="http://schemas.openxmlformats.org/officeDocument/2006/relationships/notesMaster" Target="/ppt/notesMasters/notesMaster1.xml" Id="R0428388c0d9d420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e0b7659e584ff5" /><Relationship Type="http://schemas.openxmlformats.org/officeDocument/2006/relationships/notesMaster" Target="/ppt/notesMasters/notesMaster1.xml" Id="Rb76b350efbbf473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c2b5824b234cc3" /><Relationship Type="http://schemas.openxmlformats.org/officeDocument/2006/relationships/notesMaster" Target="/ppt/notesMasters/notesMaster1.xml" Id="R894c25fd42064e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1158f8ee5844497" /><Relationship Type="http://schemas.openxmlformats.org/officeDocument/2006/relationships/notesMaster" Target="/ppt/notesMasters/notesMaster1.xml" Id="R5dd7c79df54a40f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eee1ac142fa4062" /><Relationship Type="http://schemas.openxmlformats.org/officeDocument/2006/relationships/notesMaster" Target="/ppt/notesMasters/notesMaster1.xml" Id="R5a63ee05a4da4bd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f0b6990349b478d" /><Relationship Type="http://schemas.openxmlformats.org/officeDocument/2006/relationships/notesMaster" Target="/ppt/notesMasters/notesMaster1.xml" Id="R97966eba88cf479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f0b9b2e6fe9474e" /><Relationship Type="http://schemas.openxmlformats.org/officeDocument/2006/relationships/notesMaster" Target="/ppt/notesMasters/notesMaster1.xml" Id="Rb3f3087834b045f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114cbae1c064fea" /><Relationship Type="http://schemas.openxmlformats.org/officeDocument/2006/relationships/notesMaster" Target="/ppt/notesMasters/notesMaster1.xml" Id="Rca8cc862617a46a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d3de5644751446e" /><Relationship Type="http://schemas.openxmlformats.org/officeDocument/2006/relationships/notesMaster" Target="/ppt/notesMasters/notesMaster1.xml" Id="R5737dfeab5fa4fb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337a87f040340b7" /><Relationship Type="http://schemas.openxmlformats.org/officeDocument/2006/relationships/notesMaster" Target="/ppt/notesMasters/notesMaster1.xml" Id="R0215f9663180432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32a165e40994388" /><Relationship Type="http://schemas.openxmlformats.org/officeDocument/2006/relationships/notesMaster" Target="/ppt/notesMasters/notesMaster1.xml" Id="R55002c1cdb5c4ba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3b559d0be544f84" /><Relationship Type="http://schemas.openxmlformats.org/officeDocument/2006/relationships/notesMaster" Target="/ppt/notesMasters/notesMaster1.xml" Id="Rd08284220c7b4a3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867ee8706b04367" /><Relationship Type="http://schemas.openxmlformats.org/officeDocument/2006/relationships/notesMaster" Target="/ppt/notesMasters/notesMaster1.xml" Id="Rd6ad10c54e1240c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027c38000084ddc" /><Relationship Type="http://schemas.openxmlformats.org/officeDocument/2006/relationships/notesMaster" Target="/ppt/notesMasters/notesMaster1.xml" Id="Rc7e0aae9665b4de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9fadf5242e74083" /><Relationship Type="http://schemas.openxmlformats.org/officeDocument/2006/relationships/notesMaster" Target="/ppt/notesMasters/notesMaster1.xml" Id="R9c0b7923b38344f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0fc3718b1a24c7c" /><Relationship Type="http://schemas.openxmlformats.org/officeDocument/2006/relationships/notesMaster" Target="/ppt/notesMasters/notesMaster1.xml" Id="Rdd734e1b9d524f6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68b3e2e1de94040" /><Relationship Type="http://schemas.openxmlformats.org/officeDocument/2006/relationships/notesMaster" Target="/ppt/notesMasters/notesMaster1.xml" Id="R0fbdaa17964d474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efd2e50aecc4652" /><Relationship Type="http://schemas.openxmlformats.org/officeDocument/2006/relationships/notesMaster" Target="/ppt/notesMasters/notesMaster1.xml" Id="Rbdc1c89ec2eb4a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0-2 min. Apresente o encontro e mostre a máquina real, sem iniciar movimentos. Objetivo do dia: compreender o processo e observar com segurança; ainda não é uma aula de operação autônoma.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>https://cdn.creality.com/ow/official/8d7f37c1-06b3-481a-a051-c0369ffdacb8.pdf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2-5 min. Leia os três resultados e associe a avaliação de saída a eles. Pergunte o que a turma já sabe; não corrija toda hipótese agora.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5-7 min. O roteiro considera 19h-22h. A pausa está incluída nos 180 minutos. Se a instituição exigir 180 minutos líquidos, acrescente a pausa ao horário; não a contabilize como conteúdo. Demonstração só precisa mostrar as primeiras camadas, não terminar uma peça nova.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7-20 min. 2 min para pensar, 4 min em dupla e 7 min para apresentações breves. Cada pessoa diz nome, objeto e motivo em até 30 segundos. Em turma grande, cada dupla compartilha uma ideia. Registre interesses para o projeto final; não prometa que qualquer objeto será imprimível.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20-27 min. Informações preservadas do material e do plano docente: 10 encontros, 30h, presença mínima de 75%. Seguir o registro de frequência da unidade. Participação, projeto em grupo e apresentação são a proposta do plano docente; esclarecer critérios oficiais antes da avaliação. O produto não precisa sair perfeito para evidenciar aprendizagem.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27-35 min. Diagnóstico discreto: quem já usa mouse, salva arquivos e cria pastas? Evite expor iniciantes. Forme duplas com rodízio: uma pessoa executa, a outra observa e confere; depois trocam. Aulas de computador virão nos próximos encontros. Uma única máquina atende a turma.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35-45 min. Aponte as regiões na máquina desligada e fria, sem permitir toque em partes internas. Só o professor opera, carrega filamento, remove peças e trata falhas nesta aula. Cabelo preso, roupas e acessórios longe das partes móveis. Mostrar área livre, ventilação e forma segura de chamar o responsável. Não fazer uma demonstração de emergência energizada. O manual K1C V1.0 informa máximos de 300 C no bico e 100 C na mesa; máximos não são temperaturas sugeridas de impressão.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>https://cdn.creality.com/ow/official/8d7f37c1-06b3-481a-a051-c0369ffdacb8.pdf</a:t>
            </a:r>
          </a:p>
          <a:p xmlns:a="http://schemas.openxmlformats.org/drawingml/2006/main">
            <a:r>
              <a:t>https://www.cdc.gov/niosh/docs/2024-103/default.html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45-55 min. 1 min individual; 4 min em duplas; 5 min correção oral. A: não tocar; estar parada não comprova resfriamento. B: afastar-se e avisar; não recolocar a peça durante o movimento. C: a carenagem não elimina emissões; manter ventilação e seguir manual. O professor configura porta/tampa antes do uso conforme material e ambiente. No manual consultado, para PLA/flexível e câmara acima de 35 C, retirar tampa transparente. Isso não autoriza aproximação de mãos. Cheiro incomum/fumaça: afastar turma e acionar procedimento local por responsável.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>https://cdn.creality.com/ow/official/8d7f37c1-06b3-481a-a051-c0369ffdacb8.pdf</a:t>
            </a:r>
          </a:p>
          <a:p xmlns:a="http://schemas.openxmlformats.org/drawingml/2006/main">
            <a:r>
              <a:t>https://www.cdc.gov/niosh/docs/2024-103/default.html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55-59 min. Use o objeto citado pela turma como exemplo. Modelagem define forma e medidas; o fatiador prepara percursos; a máquina executa. FDM/FFF é extrusão de material: filamento é alimentado, aquecido e depositado. FDM é denominação amplamente usada; FFF é termo genérico comum. A K1C movimenta o cabeçote em X/Y e a mesa no eixo Z. A fabricação é aditiva: acrescenta material em vez de esculpir um bloco.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>https://cdn.creality.com/ow/official/8d7f37c1-06b3-481a-a051-c0369ffdacb8.pdf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59-63 min. Tinkercad é um exemplo de modelador previsto para os próximos encontros; Creality Print é o fatiador local previsto, sujeito à instalação disponível. STL/3MF levam a geometria ao fatiador; 3MF também pode conter projeto e configurações conforme aplicação. STL não registra unidade padrão: verificar escala em mm no importador. G-code depende de máquina, bico, material e perfil; não reutilizar arquivo desconhecido. Não exigir login nesta primeira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>https://cdn.creality.com/ow/official/8d7f37c1-06b3-481a-a051-c0369ffdacb8.pdf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63-66 min. Mostre as linhas visíveis nas três peças. A camada mais fina melhora a resolução vertical e geralmente aumenta o tempo. Os tempos na imagem pertencem ao exemplo da Prusa, não são previsões para a K1C. Não transformar 0,10/0,20/0,30 mm em receita universal. Depende de bico, perfil, material e peça.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>https://help.prusa3d.com/article/layers-and-perimeters_1748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66-68 min. Parede é o contorno externo; preenchimento ocupa parte do interior e ajuda a sustentar camadas superiores. A imagem compara 2, 4 e 8 perímetros, não percentuais de infill. Resistência depende também de orientação, material e união entre camadas. Não prometer resistência com uma porcentagem. É apenas uma apresentação dos termos, a configuração será aprofundada depois.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>https://help.prusa3d.com/article/layers-and-perimeters_1748</a:t>
            </a:r>
          </a:p>
          <a:p xmlns:a="http://schemas.openxmlformats.org/drawingml/2006/main">
            <a:r>
              <a:t>https://help.prusa3d.com/article/infill_42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68-71 min. Na figura, verde indica estrutura de suporte e laranja a peça. Compare apoio só na mesa (esquerda) e em outras superfícies (direita). Suportes são retirados depois e consomem material/tempo; podem deixar marcas. Girar ou dividir uma peça pode reduzir suporte, mas muda acabamento e resistência. Não oferecer um ângulo universal de limite. Não remover suportes em sala sem procedimento e proteção apropriados.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>https://help.prusa3d.com/article/support-material_1698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71-80 min. 2 min: ordenar no papel ideia, modelo, fatiador, G-code, impressão. 4 min: sobrepor retângulos de papel previamente cortados para representar camadas; não cortar na hora. Explicar que a analogia usa folhas prontas, enquanto FDM deposita trajetórias. 3 min: duplas explicam em 30 segundos. Gabarito: ideia/medidas, modelo, fatiador, G-code, impressão. Aceitar arquivo STL/3MF entre modelo e fatiador. Sem papel: fazer ordenação oral e usar peça pronta.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80-90 min. Pausa de 10 minutos incluída no tempo total. Se houver impressão em andamento, manter supervisão por responsável: a pausa da turma não elimina supervisão.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90-93 min. 1984: depósito de patente de estereolitografia por Hull, não afirmação de inventor único de toda manufatura aditiva. 1989: depósito de US5121329 por Scott Crump; concessão em 1992. Evitar dizer que foi concedida em 1989. A disseminação posterior resulta de diferentes desenvolvimentos, não só de uma patente. Os marcos se referem a tecnologias específicas.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>https://www.3dsystems.com/our-story</a:t>
            </a:r>
          </a:p>
          <a:p xmlns:a="http://schemas.openxmlformats.org/drawingml/2006/main">
            <a:r>
              <a:t>https://patents.google.com/patent/US5121329A/en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93-97 min. Peça que a turma escolha um caso. Bons candidatos: personalização, protótipo para testar encaixe, pequenas séries. Pode não compensar quando um item padronizado já é barato, exige resistência/calor incompatíveis ou produção em massa. Aplicações de saúde existem em processos profissionais validados; objetos da aula não são dispositivos médicos. Ao baixar modelos, conferir licença e dar crédito ao autor. Não garantir direitos de venda sem verificar a licença.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97-100 min. Confirmar no carretel o material e o perfil real antes da demonstração. PLA é comum para iniciação por facilidade relativa de impressão, mas não significa livre de emissões ou adequado a calor. Armazenar conforme fabricante, protegido de umidade. Temperatura deve seguir perfil validado e fabricante do filamento; não existe número único para todo PLA. Outros materiais serão comparados no encontro adequado.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>https://help.prusa3d.com/article/pla_2062</a:t>
            </a:r>
          </a:p>
          <a:p xmlns:a="http://schemas.openxmlformats.org/drawingml/2006/main">
            <a:r>
              <a:t>https://www.cdc.gov/niosh/docs/2024-103/default.html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100-107 min. Todos os valores monetários são hipóteses didáticas, não pesquisa de preço de mercado. Preço de referência R$100/kg, 1 kg=1000g. 8g custam R$0,80; 40g custam R$4,00. Explicar unidades e regra de três. Usar massa total prevista para a impressão, incluindo suportes, bordas de adesão (brim/raft) e purga quando o fatiador informar. Cola ou spray de mesa são consumíveis separados, fora desta conta. Não confundir preço de venda com custo do filamento.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107-111 min. Construir a conta verbal sem inventar tarifa local ou consumo da K1C. Energia se estima com potência média medida em kW x horas x tarifa em R$/kWh; potência nominal não equivale ao consumo médio. Somar manutenção/desgaste, consumíveis fora do filamento (como cola ou spray de mesa), tempo de trabalho e falhas reais. Margem, impostos e despesas comerciais só entram numa formação de preço, não na conta básica de filamento. Comparar preço pronto apenas com todos os custos e a utilidade.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111-121 min. 2 min leitura e organização, 5 min cálculo, 3 min comparação. Propor calculadora ou cálculo no papel. Cada dupla registra fórmula, unidade e conclusão. Hipóteses: R$100/kg; massa da peça 25g e suporte 5g. A: massa total e custo material. B: duas tentativas completas consomem exatamente o dobro neste exercício. Não supor que toda falha real ocorre após consumir 100% da peça. C: pronto R$6; informação insuficiente sem custos restantes e utilidade.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121-125 min. A: 25+5=30g, 30x100/1000=R$3. B: 2x30=60g e R$6. C: não; faltam energia, máquina, trabalho e eventuais perdas. Reforçar que reutilizar suportes não foi hipótese deste exercício. Pedir a uma dupla que explique o denominador 1000.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125-129 min. Usar a máquina real como principal recurso. Identificação K1C vem do material e da visita. Volume nominal 220x220x250mm confirmado pelo fabricante. Espaço útil pode diminuir com suportes, bordas de adesão (brim/raft) ou restrições do perfil. Nivelamento automático não elimina inspeção da primeira camada. Não repetir promessas genéricas de velocidade. Conferir a revisão física do equipamento e o manual correspondente antes de operá-lo.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>https://cdn.creality.com/ow/official/8d7f37c1-06b3-481a-a051-c0369ffdacb8.pdf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129-135 min. Imagem técnica do manual oficial. Traduções para apontar na máquina: nozzle assembly=conjunto do bico; printing platform=plataforma/mesa; material barrel=suporte da bobina; touch screen=tela. O extrusor é o mecanismo que empurra o filamento, não o bico; o bico é a saída aquecida de deposição. A bobina pode estar atrás ou em suporte lateral conforme instalação. A porta aberta na ilustração serve à identificação, não é uma instrução operacional. Identificar entrada de filamento, mesa, cabeçote e tela sem tocar.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>https://cdn.creality.com/ow/official/8d7f37c1-06b3-481a-a051-c0369ffdacb8.pdf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135-144 min. Procedimento: 1 confirmar filamento, chapa, bico e condição da máquina; 2 abrir modelo local conhecido; 3 selecionar perfil da K1C e filamento real; 4 conferir dimensões, posição, suportes e prévia; 5 anotar massa/tempo; 6 exportar G-code validado e transferir por caminho testado USB/LAN. Não imprimir arquivo desconhecido. Preparar e testar antes da aula; não atualizar software/firmware em sala. Carregamento/descarregamento só pelo professor conforme manual, fora do fluxo de alunos. Se não houver computador, usar G-code local previamente testado e explicar a prévia salva.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>https://cdn.creality.com/ow/official/8d7f37c1-06b3-481a-a051-c0369ffdacb8.pdf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144-154 min. 3 min mostrar início/calibração; 7 min observar. Fotografia Prusa serve apenas para reconhecer o aspecto da primeira camada. Não aplicar na K1C instruções de ajuste manual de Z da Prusa i3. Esquerda: linhas separadas, bico alto no exemplo; centro: superfície uniforme; direita: sulcos, bico baixo no exemplo. Na máquina real, falhas também podem ter outras causas. Se descolar, surgir acúmulo ou ruído anormal, professor interrompe usando controles acessíveis; alunos se afastam. Sem condições de segurança, usar imagens e peça pronta.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>https://help.prusa3d.com/article/first-layer-calibration-i3_112364</a:t>
            </a:r>
          </a:p>
          <a:p xmlns:a="http://schemas.openxmlformats.org/drawingml/2006/main">
            <a:r>
              <a:t>https://cdn.creality.com/ow/official/8d7f37c1-06b3-481a-a051-c0369ffdacb8.pdf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154-160 min. Não esperar a impressão inteira: usar uma peça do mesmo modelo já pronta. Diferenciar observação ao vivo e amostra anterior. Professor aguarda resfriamento e remove peça conforme chapa/manual. Mostrar camadas, base e acabamento sem cortar ou lixar. Conferir medida com régua/paquímetro e função sem prometer tolerância universal. Registrar resultado e melhoria. Se o trabalho continuar ao final, designar supervisão conforme regra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>https://cdn.creality.com/ow/official/8d7f37c1-06b3-481a-a051-c0369ffdacb8.pdf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160-170 min. Entrega em papel: nome do grupo, problema, usuário, desenho com duas ou três dimensões em mm e justificativa de uma base. Sugestão: placa identificadora de mochila/mesa, sem dados pessoais expostos. Exemplo dimensional 40x20x3mm é ponto de partida didático, não prescrição universal. Definir uso leve; evitar peças críticas para saúde, estrutura, eletricidade ou segurança. Não é necessário modelar nem imprimir cada ideia nesta aula. Quem domina computador pode explicar a dimensão em vez de assumir todo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170-175 min. Cada grupo apresenta em até 30s; com muitos grupos, fazer troca entre duplas e convidar 2 exemplos. Conferir se todos participaram. Critérios formativos: problema claro, medidas com unidade, base pensada, reconhecimento de limitação. Guardar os esboços para próximas aulas. Não atribuir aprovação institucional com base apenas nesta atividade.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175-179 min. Resposta individual em papel ou oralmente, sem constranger. 1 citar dois riscos e ações correspondentes. 2 modelagem, fatiamento, impressão; aceitar etapas intermediárias. 3 25x100/1000=R$2,50 apenas material, sem suportes adicionais nesta pergunta. Se houver erro, anotar para retomada no próximo encontro. Esta é avaliação formativa, não prova de operação autônoma.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179-180 min. Retome os resultados: processo, segurança e custo. Gabarito da saída está nas notas e no guia do professor, não é projetado antes de responderem. Próximo encontro: comparar processos e materiais e aprofundar escolhas; usar calendário real da turma. Guardar esboços. Uma pessoa designada supervisiona máquina ainda em execução, conforme procedimento da unidade.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acrescenta tempo ao roteiro. Acessos em 23/09/2026. Manual e pesquisa servem de apoio; usar revisão compatível com a máquina local. Regras do curso vêm do plano docente e do PDF original. Os links estão ativos no PDF e nas notas do PowerPoint.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>https://cdn.creality.com/ow/official/8d7f37c1-06b3-481a-a051-c0369ffdacb8.pdf</a:t>
            </a:r>
          </a:p>
          <a:p xmlns:a="http://schemas.openxmlformats.org/drawingml/2006/main">
            <a:r>
              <a:t>https://www.cdc.gov/niosh/docs/2024-103/default.html</a:t>
            </a:r>
          </a:p>
          <a:p xmlns:a="http://schemas.openxmlformats.org/drawingml/2006/main">
            <a:r>
              <a:t>https://www.3dsystems.com/our-story</a:t>
            </a:r>
          </a:p>
          <a:p xmlns:a="http://schemas.openxmlformats.org/drawingml/2006/main">
            <a:r>
              <a:t>https://patents.google.com/patent/US5121329A/en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acrescenta tempo. Imagens técnicas: Prusa Knowledge Base; foto e vista técnica K1C: manual Creality. Créditos preservados por legenda, notas e links. As fotos Prusa ilustram conceitos gerais e não são registros da máquina da turma. Arquivo original: Modelagem-e-Impressao-3D.pdf, 13 páginas; revisão didática construída como novo material.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créditos:</a:t>
            </a:r>
          </a:p>
          <a:p xmlns:a="http://schemas.openxmlformats.org/drawingml/2006/main">
            <a:r>
              <a:t>https://help.prusa3d.com/article/layers-and-perimeters_1748</a:t>
            </a:r>
          </a:p>
          <a:p xmlns:a="http://schemas.openxmlformats.org/drawingml/2006/main">
            <a:r>
              <a:t>https://help.prusa3d.com/article/infill_42</a:t>
            </a:r>
          </a:p>
          <a:p xmlns:a="http://schemas.openxmlformats.org/drawingml/2006/main">
            <a:r>
              <a:t>https://help.prusa3d.com/article/support-material_1698</a:t>
            </a:r>
          </a:p>
          <a:p xmlns:a="http://schemas.openxmlformats.org/drawingml/2006/main">
            <a:r>
              <a:t>https://help.prusa3d.com/article/first-layer-calibration-i3_112364</a:t>
            </a:r>
          </a:p>
          <a:p xmlns:a="http://schemas.openxmlformats.org/drawingml/2006/main">
            <a:r>
              <a:t>https://help.prusa3d.com/article/pla_2062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1b0d07d71a40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1b667ceee9479f" /><Relationship Type="http://schemas.openxmlformats.org/officeDocument/2006/relationships/slideLayout" Target="/ppt/slideLayouts/slideLayout1.xml" Id="R8d3cacf2665745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3cacf2665745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789e523ea41d8" /><Relationship Type="http://schemas.openxmlformats.org/officeDocument/2006/relationships/image" Target="/ppt/media/image.png" Id="R6571cd697a91457f" /><Relationship Type="http://schemas.openxmlformats.org/officeDocument/2006/relationships/notesSlide" Target="/ppt/notesSlides/notesSlide1.xml" Id="Rdb61f22740dc43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935b8d6424b16" /><Relationship Type="http://schemas.openxmlformats.org/officeDocument/2006/relationships/notesSlide" Target="/ppt/notesSlides/notesSlide2.xml" Id="R1dcf4452d5af40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c1d827dd64e1e" /><Relationship Type="http://schemas.openxmlformats.org/officeDocument/2006/relationships/notesSlide" Target="/ppt/notesSlides/notesSlide3.xml" Id="R1dd8a4119cf245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5cd3901e64d78" /><Relationship Type="http://schemas.openxmlformats.org/officeDocument/2006/relationships/notesSlide" Target="/ppt/notesSlides/notesSlide4.xml" Id="R1afeddfd6a8446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cc311084d48bd" /><Relationship Type="http://schemas.openxmlformats.org/officeDocument/2006/relationships/notesSlide" Target="/ppt/notesSlides/notesSlide5.xml" Id="Rf7daf20b95144d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8dcc0c889497a" /><Relationship Type="http://schemas.openxmlformats.org/officeDocument/2006/relationships/notesSlide" Target="/ppt/notesSlides/notesSlide6.xml" Id="R3847b04a504346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4e26691ab4aee" /><Relationship Type="http://schemas.openxmlformats.org/officeDocument/2006/relationships/notesSlide" Target="/ppt/notesSlides/notesSlide7.xml" Id="Rb4a73c558f3c4a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89e21a7d24914" /><Relationship Type="http://schemas.openxmlformats.org/officeDocument/2006/relationships/notesSlide" Target="/ppt/notesSlides/notesSlide8.xml" Id="R6bc4736f0d2646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4911556164fd6" /><Relationship Type="http://schemas.openxmlformats.org/officeDocument/2006/relationships/notesSlide" Target="/ppt/notesSlides/notesSlide9.xml" Id="R6b9f8b47ad1541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9256ce9084061" /><Relationship Type="http://schemas.openxmlformats.org/officeDocument/2006/relationships/notesSlide" Target="/ppt/notesSlides/notesSlide10.xml" Id="Rb0511a17abe54b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eea26a5564b45" /><Relationship Type="http://schemas.openxmlformats.org/officeDocument/2006/relationships/image" Target="/ppt/media/image.jpeg" Id="R08f952b6f0884917" /><Relationship Type="http://schemas.openxmlformats.org/officeDocument/2006/relationships/notesSlide" Target="/ppt/notesSlides/notesSlide11.xml" Id="Rd73f8b8a77fa4b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f2724b8ab444b" /><Relationship Type="http://schemas.openxmlformats.org/officeDocument/2006/relationships/image" Target="/ppt/media/image2.jpeg" Id="Ra31ec8cce21a48ca" /><Relationship Type="http://schemas.openxmlformats.org/officeDocument/2006/relationships/notesSlide" Target="/ppt/notesSlides/notesSlide12.xml" Id="R6c6e413a101c45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418366dd24408" /><Relationship Type="http://schemas.openxmlformats.org/officeDocument/2006/relationships/image" Target="/ppt/media/image3.jpeg" Id="R28b7b1f940ad4d4b" /><Relationship Type="http://schemas.openxmlformats.org/officeDocument/2006/relationships/notesSlide" Target="/ppt/notesSlides/notesSlide13.xml" Id="R85b7b4302fb6492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82ba13a8748bb" /><Relationship Type="http://schemas.openxmlformats.org/officeDocument/2006/relationships/notesSlide" Target="/ppt/notesSlides/notesSlide14.xml" Id="R488410a18a4342a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0deb3d8d74fc2" /><Relationship Type="http://schemas.openxmlformats.org/officeDocument/2006/relationships/notesSlide" Target="/ppt/notesSlides/notesSlide15.xml" Id="R6de34e52ce8d436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2ee93fe4a4a1b" /><Relationship Type="http://schemas.openxmlformats.org/officeDocument/2006/relationships/notesSlide" Target="/ppt/notesSlides/notesSlide16.xml" Id="R4249570e5e404c7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78b918f5f420e" /><Relationship Type="http://schemas.openxmlformats.org/officeDocument/2006/relationships/notesSlide" Target="/ppt/notesSlides/notesSlide17.xml" Id="Rb1f6198b91b64da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12cc8865e40ef" /><Relationship Type="http://schemas.openxmlformats.org/officeDocument/2006/relationships/notesSlide" Target="/ppt/notesSlides/notesSlide18.xml" Id="R66da316b5cc7426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782140fda48f7" /><Relationship Type="http://schemas.openxmlformats.org/officeDocument/2006/relationships/notesSlide" Target="/ppt/notesSlides/notesSlide19.xml" Id="Rf849fd90764b417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b212b3c4643c5" /><Relationship Type="http://schemas.openxmlformats.org/officeDocument/2006/relationships/notesSlide" Target="/ppt/notesSlides/notesSlide20.xml" Id="R58a85df5b63c41d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9e10070fb4648" /><Relationship Type="http://schemas.openxmlformats.org/officeDocument/2006/relationships/notesSlide" Target="/ppt/notesSlides/notesSlide21.xml" Id="R90dea53a964f455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184cbafc54c70" /><Relationship Type="http://schemas.openxmlformats.org/officeDocument/2006/relationships/notesSlide" Target="/ppt/notesSlides/notesSlide22.xml" Id="Rc7a512feabcf48c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9eafd907044d0" /><Relationship Type="http://schemas.openxmlformats.org/officeDocument/2006/relationships/notesSlide" Target="/ppt/notesSlides/notesSlide23.xml" Id="R0315bc1a9e944bd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dde09f286461c" /><Relationship Type="http://schemas.openxmlformats.org/officeDocument/2006/relationships/image" Target="/ppt/media/image2.png" Id="R975f54db3e384903" /><Relationship Type="http://schemas.openxmlformats.org/officeDocument/2006/relationships/notesSlide" Target="/ppt/notesSlides/notesSlide24.xml" Id="R942c3223b287466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3d587004c433d" /><Relationship Type="http://schemas.openxmlformats.org/officeDocument/2006/relationships/notesSlide" Target="/ppt/notesSlides/notesSlide25.xml" Id="R1abe2709b66b461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34bdba5904291" /><Relationship Type="http://schemas.openxmlformats.org/officeDocument/2006/relationships/image" Target="/ppt/media/image4.jpeg" Id="Rd28e66ef2d394a09" /><Relationship Type="http://schemas.openxmlformats.org/officeDocument/2006/relationships/notesSlide" Target="/ppt/notesSlides/notesSlide26.xml" Id="R85fef7ed002e480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99dc54e894317" /><Relationship Type="http://schemas.openxmlformats.org/officeDocument/2006/relationships/notesSlide" Target="/ppt/notesSlides/notesSlide27.xml" Id="R40faf1b549be411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de534b6a9476c" /><Relationship Type="http://schemas.openxmlformats.org/officeDocument/2006/relationships/notesSlide" Target="/ppt/notesSlides/notesSlide28.xml" Id="R555bb9305fe7434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9908461a54437" /><Relationship Type="http://schemas.openxmlformats.org/officeDocument/2006/relationships/notesSlide" Target="/ppt/notesSlides/notesSlide29.xml" Id="R45637b02f7b34e2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50f5ed34f4224" /><Relationship Type="http://schemas.openxmlformats.org/officeDocument/2006/relationships/notesSlide" Target="/ppt/notesSlides/notesSlide30.xml" Id="Rea9613fb638247a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264d20948405c" /><Relationship Type="http://schemas.openxmlformats.org/officeDocument/2006/relationships/notesSlide" Target="/ppt/notesSlides/notesSlide31.xml" Id="Rc2082ee7b16c443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2c9ceb8ab4dd1" /><Relationship Type="http://schemas.openxmlformats.org/officeDocument/2006/relationships/notesSlide" Target="/ppt/notesSlides/notesSlide32.xml" Id="R2bea50c6ccd54e2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7a11802594f75" /><Relationship Type="http://schemas.openxmlformats.org/officeDocument/2006/relationships/notesSlide" Target="/ppt/notesSlides/notesSlide33.xml" Id="R859cda07df474c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1-text-1">
            <a:extLst xmlns:a="http://schemas.openxmlformats.org/drawingml/2006/main">
              <a:ext uri="{FF2B5EF4-FFF2-40B4-BE49-F238E27FC236}">
                <a16:creationId xmlns:a16="http://schemas.microsoft.com/office/drawing/2014/main" id="{5DC9985C-19A9-44D4-A408-DC4EEA2E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Senac | Carreta itinerante | Turma 202600324</a:t>
            </a:r>
          </a:p>
        </p:txBody>
      </p:sp>
      <p:sp>
        <p:nvSpPr>
          <p:cNvPr id="2" name="s1-text-2">
            <a:extLst xmlns:a="http://schemas.openxmlformats.org/drawingml/2006/main">
              <a:ext uri="{FF2B5EF4-FFF2-40B4-BE49-F238E27FC236}">
                <a16:creationId xmlns:a16="http://schemas.microsoft.com/office/drawing/2014/main" id="{CB155108-CB0F-46AF-BAAA-2716F8EC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2520B-1916-4565-9340-D814F5ED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00875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D42"/>
          </a:solidFill>
          <a:ln xmlns:a="http://schemas.openxmlformats.org/drawingml/2006/main" w="0">
            <a:noFill/>
          </a:ln>
        </p:spPr>
      </p:sp>
      <p:sp>
        <p:nvSpPr>
          <p:cNvPr id="4" name="s1-text-3">
            <a:extLst xmlns:a="http://schemas.openxmlformats.org/drawingml/2006/main">
              <a:ext uri="{FF2B5EF4-FFF2-40B4-BE49-F238E27FC236}">
                <a16:creationId xmlns:a16="http://schemas.microsoft.com/office/drawing/2014/main" id="{326CC8EB-4DB2-4FFC-9FA6-3713B587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5715000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D7D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9D7DF"/>
                </a:solidFill>
                <a:latin typeface="Arial"/>
                <a:ea typeface="Arial"/>
                <a:cs typeface="Arial"/>
              </a:rPr>
              <a:t>ENCONTRO 1</a:t>
            </a:r>
          </a:p>
        </p:txBody>
      </p:sp>
      <p:sp>
        <p:nvSpPr>
          <p:cNvPr id="5" name="s1-text-4">
            <a:extLst xmlns:a="http://schemas.openxmlformats.org/drawingml/2006/main">
              <a:ext uri="{FF2B5EF4-FFF2-40B4-BE49-F238E27FC236}">
                <a16:creationId xmlns:a16="http://schemas.microsoft.com/office/drawing/2014/main" id="{A2919DC6-3AF6-4A7C-848F-4FC33171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09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Modelagem e</a:t>
            </a:r>
          </a:p>
        </p:txBody>
      </p:sp>
      <p:sp>
        <p:nvSpPr>
          <p:cNvPr id="6" name="s1-text-5">
            <a:extLst xmlns:a="http://schemas.openxmlformats.org/drawingml/2006/main">
              <a:ext uri="{FF2B5EF4-FFF2-40B4-BE49-F238E27FC236}">
                <a16:creationId xmlns:a16="http://schemas.microsoft.com/office/drawing/2014/main" id="{E3B38C70-4888-408A-B5B9-E561671B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609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Impressão 3D</a:t>
            </a:r>
          </a:p>
        </p:txBody>
      </p:sp>
      <p:sp>
        <p:nvSpPr>
          <p:cNvPr id="7" name="s1-text-6">
            <a:extLst xmlns:a="http://schemas.openxmlformats.org/drawingml/2006/main">
              <a:ext uri="{FF2B5EF4-FFF2-40B4-BE49-F238E27FC236}">
                <a16:creationId xmlns:a16="http://schemas.microsoft.com/office/drawing/2014/main" id="{D571160C-F4DB-4D03-9C07-CC33429D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90925"/>
            <a:ext cx="57531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0ECF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0ECF0"/>
                </a:solidFill>
                <a:latin typeface="Arial"/>
                <a:ea typeface="Arial"/>
                <a:cs typeface="Arial"/>
              </a:rPr>
              <a:t>Primeiros passos: processo,</a:t>
            </a:r>
          </a:p>
        </p:txBody>
      </p:sp>
      <p:sp>
        <p:nvSpPr>
          <p:cNvPr id="8" name="s1-text-7">
            <a:extLst xmlns:a="http://schemas.openxmlformats.org/drawingml/2006/main">
              <a:ext uri="{FF2B5EF4-FFF2-40B4-BE49-F238E27FC236}">
                <a16:creationId xmlns:a16="http://schemas.microsoft.com/office/drawing/2014/main" id="{5D731B28-6C43-4DBA-8565-FDC8FC10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2398"/>
            <a:ext cx="57531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0ECF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0ECF0"/>
                </a:solidFill>
                <a:latin typeface="Arial"/>
                <a:ea typeface="Arial"/>
                <a:cs typeface="Arial"/>
              </a:rPr>
              <a:t>segurança e custo</a:t>
            </a:r>
          </a:p>
        </p:txBody>
      </p:sp>
      <p:sp>
        <p:nvSpPr>
          <p:cNvPr id="9" name="s1-text-8">
            <a:extLst xmlns:a="http://schemas.openxmlformats.org/drawingml/2006/main">
              <a:ext uri="{FF2B5EF4-FFF2-40B4-BE49-F238E27FC236}">
                <a16:creationId xmlns:a16="http://schemas.microsoft.com/office/drawing/2014/main" id="{375395F3-F24D-496C-9E28-826FB00F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5715000" cy="257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0ECF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0ECF0"/>
                </a:solidFill>
                <a:latin typeface="Arial"/>
                <a:ea typeface="Arial"/>
                <a:cs typeface="Arial"/>
              </a:rPr>
              <a:t>23/09/2026 | 19h às 22h</a:t>
            </a:r>
          </a:p>
        </p:txBody>
      </p:sp>
      <p:sp>
        <p:nvSpPr>
          <p:cNvPr id="10" name="s1-text-9">
            <a:extLst xmlns:a="http://schemas.openxmlformats.org/drawingml/2006/main">
              <a:ext uri="{FF2B5EF4-FFF2-40B4-BE49-F238E27FC236}">
                <a16:creationId xmlns:a16="http://schemas.microsoft.com/office/drawing/2014/main" id="{72D9D1BC-AA54-45C5-AEF2-F3DEC96D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9346"/>
            <a:ext cx="5715000" cy="257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0ECF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0ECF0"/>
                </a:solidFill>
                <a:latin typeface="Arial"/>
                <a:ea typeface="Arial"/>
                <a:cs typeface="Arial"/>
              </a:rPr>
              <a:t>Prof. Marcos Moraes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1cd697a91457f"/>
          <a:stretch xmlns:a="http://schemas.openxmlformats.org/drawingml/2006/main"/>
        </p:blipFill>
        <p:spPr>
          <a:xfrm xmlns:a="http://schemas.openxmlformats.org/drawingml/2006/main">
            <a:off x="7419975" y="777575"/>
            <a:ext cx="4067175" cy="46170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3715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2-text-1">
            <a:extLst xmlns:a="http://schemas.openxmlformats.org/drawingml/2006/main">
              <a:ext uri="{FF2B5EF4-FFF2-40B4-BE49-F238E27FC236}">
                <a16:creationId xmlns:a16="http://schemas.microsoft.com/office/drawing/2014/main" id="{41E08FC3-B0AE-4C5F-A93A-BE87EAFD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O que você vai conseguir explicar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782EA-84FA-460E-B486-25877773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2-text-2">
            <a:extLst xmlns:a="http://schemas.openxmlformats.org/drawingml/2006/main">
              <a:ext uri="{FF2B5EF4-FFF2-40B4-BE49-F238E27FC236}">
                <a16:creationId xmlns:a16="http://schemas.microsoft.com/office/drawing/2014/main" id="{E11C3A69-795D-4312-8FBC-4CD4D2FA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Abertura | 0-20 min</a:t>
            </a:r>
          </a:p>
        </p:txBody>
      </p:sp>
      <p:sp>
        <p:nvSpPr>
          <p:cNvPr id="4" name="s2-text-3">
            <a:extLst xmlns:a="http://schemas.openxmlformats.org/drawingml/2006/main">
              <a:ext uri="{FF2B5EF4-FFF2-40B4-BE49-F238E27FC236}">
                <a16:creationId xmlns:a16="http://schemas.microsoft.com/office/drawing/2014/main" id="{89C12D68-1B2C-4A15-9230-EB6A9195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s2-text-4">
            <a:extLst xmlns:a="http://schemas.openxmlformats.org/drawingml/2006/main">
              <a:ext uri="{FF2B5EF4-FFF2-40B4-BE49-F238E27FC236}">
                <a16:creationId xmlns:a16="http://schemas.microsoft.com/office/drawing/2014/main" id="{50030808-D0C6-4AD9-8309-B9019463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2-text-5">
            <a:extLst xmlns:a="http://schemas.openxmlformats.org/drawingml/2006/main">
              <a:ext uri="{FF2B5EF4-FFF2-40B4-BE49-F238E27FC236}">
                <a16:creationId xmlns:a16="http://schemas.microsoft.com/office/drawing/2014/main" id="{49E5D73E-BD79-4E00-8195-BE38D6FF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33575"/>
            <a:ext cx="101346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O caminho da ideia até a peça</a:t>
            </a:r>
          </a:p>
        </p:txBody>
      </p:sp>
      <p:sp>
        <p:nvSpPr>
          <p:cNvPr id="7" name="s2-text-6">
            <a:extLst xmlns:a="http://schemas.openxmlformats.org/drawingml/2006/main">
              <a:ext uri="{FF2B5EF4-FFF2-40B4-BE49-F238E27FC236}">
                <a16:creationId xmlns:a16="http://schemas.microsoft.com/office/drawing/2014/main" id="{8FA0FB53-47A1-46F3-AE4D-28E0D3B4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101346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Distinguir modelagem, fatiamento e impressão.</a:t>
            </a:r>
          </a:p>
        </p:txBody>
      </p:sp>
      <p:sp>
        <p:nvSpPr>
          <p:cNvPr id="8" name="s2-text-7">
            <a:extLst xmlns:a="http://schemas.openxmlformats.org/drawingml/2006/main">
              <a:ext uri="{FF2B5EF4-FFF2-40B4-BE49-F238E27FC236}">
                <a16:creationId xmlns:a16="http://schemas.microsoft.com/office/drawing/2014/main" id="{49363A77-9D07-4E3D-AFD8-4AE3ECAB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2-text-8">
            <a:extLst xmlns:a="http://schemas.openxmlformats.org/drawingml/2006/main">
              <a:ext uri="{FF2B5EF4-FFF2-40B4-BE49-F238E27FC236}">
                <a16:creationId xmlns:a16="http://schemas.microsoft.com/office/drawing/2014/main" id="{550C6861-12F1-4E6C-AD3C-85A73E07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101346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Como observar a impressora com segurança</a:t>
            </a:r>
          </a:p>
        </p:txBody>
      </p:sp>
      <p:sp>
        <p:nvSpPr>
          <p:cNvPr id="10" name="s2-text-9">
            <a:extLst xmlns:a="http://schemas.openxmlformats.org/drawingml/2006/main">
              <a:ext uri="{FF2B5EF4-FFF2-40B4-BE49-F238E27FC236}">
                <a16:creationId xmlns:a16="http://schemas.microsoft.com/office/drawing/2014/main" id="{8174B57B-5A7E-4D79-8F7A-337E8C5A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101346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Reconhecer calor, movimento e situações de alerta.</a:t>
            </a:r>
          </a:p>
        </p:txBody>
      </p:sp>
      <p:sp>
        <p:nvSpPr>
          <p:cNvPr id="11" name="s2-text-10">
            <a:extLst xmlns:a="http://schemas.openxmlformats.org/drawingml/2006/main">
              <a:ext uri="{FF2B5EF4-FFF2-40B4-BE49-F238E27FC236}">
                <a16:creationId xmlns:a16="http://schemas.microsoft.com/office/drawing/2014/main" id="{AD07F74C-4E1A-4A10-957B-989B73E2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s2-text-11">
            <a:extLst xmlns:a="http://schemas.openxmlformats.org/drawingml/2006/main">
              <a:ext uri="{FF2B5EF4-FFF2-40B4-BE49-F238E27FC236}">
                <a16:creationId xmlns:a16="http://schemas.microsoft.com/office/drawing/2014/main" id="{76DDB619-069A-45E9-8C06-B7DE77E7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76725"/>
            <a:ext cx="101346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Quanto material uma peça consome</a:t>
            </a:r>
          </a:p>
        </p:txBody>
      </p:sp>
      <p:sp>
        <p:nvSpPr>
          <p:cNvPr id="13" name="s2-text-12">
            <a:extLst xmlns:a="http://schemas.openxmlformats.org/drawingml/2006/main">
              <a:ext uri="{FF2B5EF4-FFF2-40B4-BE49-F238E27FC236}">
                <a16:creationId xmlns:a16="http://schemas.microsoft.com/office/drawing/2014/main" id="{7BFFFFFA-F767-4105-B64A-07313AB4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76775"/>
            <a:ext cx="101346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Estimar o custo do filamento e explicar o que falta na conta.</a:t>
            </a:r>
          </a:p>
        </p:txBody>
      </p:sp>
    </p:spTree>
    <p:extLst>
      <p:ext uri="{BB962C8B-B14F-4D97-AF65-F5344CB8AC3E}">
        <p14:creationId xmlns:p14="http://schemas.microsoft.com/office/powerpoint/2010/main" val="18958568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3-text-1">
            <a:extLst xmlns:a="http://schemas.openxmlformats.org/drawingml/2006/main">
              <a:ext uri="{FF2B5EF4-FFF2-40B4-BE49-F238E27FC236}">
                <a16:creationId xmlns:a16="http://schemas.microsoft.com/office/drawing/2014/main" id="{00CD7F27-934D-4495-AA19-4EE343C3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Nosso roteiro de 3 horas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C3D82-29A1-4089-8413-8345AE1B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3-text-2">
            <a:extLst xmlns:a="http://schemas.openxmlformats.org/drawingml/2006/main">
              <a:ext uri="{FF2B5EF4-FFF2-40B4-BE49-F238E27FC236}">
                <a16:creationId xmlns:a16="http://schemas.microsoft.com/office/drawing/2014/main" id="{25BC422C-6EAC-43DF-B27B-86F6B0E9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Abertura | 180 minutos, com pausa</a:t>
            </a:r>
          </a:p>
        </p:txBody>
      </p:sp>
      <p:sp>
        <p:nvSpPr>
          <p:cNvPr id="4" name="s3-text-3">
            <a:extLst xmlns:a="http://schemas.openxmlformats.org/drawingml/2006/main">
              <a:ext uri="{FF2B5EF4-FFF2-40B4-BE49-F238E27FC236}">
                <a16:creationId xmlns:a16="http://schemas.microsoft.com/office/drawing/2014/main" id="{A4E6CD37-7A0B-482A-BDBD-58E7DAD5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s3-text-4">
            <a:extLst xmlns:a="http://schemas.openxmlformats.org/drawingml/2006/main">
              <a:ext uri="{FF2B5EF4-FFF2-40B4-BE49-F238E27FC236}">
                <a16:creationId xmlns:a16="http://schemas.microsoft.com/office/drawing/2014/main" id="{AC97934D-D846-4BFF-8445-F9E6134C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95375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19:00</a:t>
            </a:r>
          </a:p>
        </p:txBody>
      </p:sp>
      <p:sp>
        <p:nvSpPr>
          <p:cNvPr id="6" name="s3-text-5">
            <a:extLst xmlns:a="http://schemas.openxmlformats.org/drawingml/2006/main">
              <a:ext uri="{FF2B5EF4-FFF2-40B4-BE49-F238E27FC236}">
                <a16:creationId xmlns:a16="http://schemas.microsoft.com/office/drawing/2014/main" id="{7C8645B7-0DCD-468D-BCF4-45F4C751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876425"/>
            <a:ext cx="4048125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Apresentações e objetivos</a:t>
            </a:r>
          </a:p>
        </p:txBody>
      </p:sp>
      <p:sp>
        <p:nvSpPr>
          <p:cNvPr id="7" name="s3-text-6">
            <a:extLst xmlns:a="http://schemas.openxmlformats.org/drawingml/2006/main">
              <a:ext uri="{FF2B5EF4-FFF2-40B4-BE49-F238E27FC236}">
                <a16:creationId xmlns:a16="http://schemas.microsoft.com/office/drawing/2014/main" id="{D932578A-69E5-4B01-967C-44E996D8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181225"/>
            <a:ext cx="4048125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20 min</a:t>
            </a:r>
          </a:p>
        </p:txBody>
      </p:sp>
      <p:sp>
        <p:nvSpPr>
          <p:cNvPr id="8" name="s3-text-7">
            <a:extLst xmlns:a="http://schemas.openxmlformats.org/drawingml/2006/main">
              <a:ext uri="{FF2B5EF4-FFF2-40B4-BE49-F238E27FC236}">
                <a16:creationId xmlns:a16="http://schemas.microsoft.com/office/drawing/2014/main" id="{41870003-768E-4396-8250-79FAB2C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5375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19:20</a:t>
            </a:r>
          </a:p>
        </p:txBody>
      </p:sp>
      <p:sp>
        <p:nvSpPr>
          <p:cNvPr id="9" name="s3-text-8">
            <a:extLst xmlns:a="http://schemas.openxmlformats.org/drawingml/2006/main">
              <a:ext uri="{FF2B5EF4-FFF2-40B4-BE49-F238E27FC236}">
                <a16:creationId xmlns:a16="http://schemas.microsoft.com/office/drawing/2014/main" id="{16B70C96-2347-43C3-B123-5AF5AF21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619375"/>
            <a:ext cx="4048125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Curso e combinados</a:t>
            </a:r>
          </a:p>
        </p:txBody>
      </p:sp>
      <p:sp>
        <p:nvSpPr>
          <p:cNvPr id="10" name="s3-text-9">
            <a:extLst xmlns:a="http://schemas.openxmlformats.org/drawingml/2006/main">
              <a:ext uri="{FF2B5EF4-FFF2-40B4-BE49-F238E27FC236}">
                <a16:creationId xmlns:a16="http://schemas.microsoft.com/office/drawing/2014/main" id="{2FC984BD-803C-4125-8306-8D269F28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24175"/>
            <a:ext cx="4048125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15 min</a:t>
            </a:r>
          </a:p>
        </p:txBody>
      </p:sp>
      <p:sp>
        <p:nvSpPr>
          <p:cNvPr id="11" name="s3-text-10">
            <a:extLst xmlns:a="http://schemas.openxmlformats.org/drawingml/2006/main">
              <a:ext uri="{FF2B5EF4-FFF2-40B4-BE49-F238E27FC236}">
                <a16:creationId xmlns:a16="http://schemas.microsoft.com/office/drawing/2014/main" id="{9969EEDC-A672-4152-9C6F-AB9880FE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95375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19:35</a:t>
            </a:r>
          </a:p>
        </p:txBody>
      </p:sp>
      <p:sp>
        <p:nvSpPr>
          <p:cNvPr id="12" name="s3-text-11">
            <a:extLst xmlns:a="http://schemas.openxmlformats.org/drawingml/2006/main">
              <a:ext uri="{FF2B5EF4-FFF2-40B4-BE49-F238E27FC236}">
                <a16:creationId xmlns:a16="http://schemas.microsoft.com/office/drawing/2014/main" id="{EAFA461A-C5AF-421C-AA73-1E59C15B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362325"/>
            <a:ext cx="4048125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Segurança e situações</a:t>
            </a:r>
          </a:p>
        </p:txBody>
      </p:sp>
      <p:sp>
        <p:nvSpPr>
          <p:cNvPr id="13" name="s3-text-12">
            <a:extLst xmlns:a="http://schemas.openxmlformats.org/drawingml/2006/main">
              <a:ext uri="{FF2B5EF4-FFF2-40B4-BE49-F238E27FC236}">
                <a16:creationId xmlns:a16="http://schemas.microsoft.com/office/drawing/2014/main" id="{CCC06B81-3BAF-4519-8B80-9E3AC4EF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667125"/>
            <a:ext cx="4048125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20 min</a:t>
            </a:r>
          </a:p>
        </p:txBody>
      </p:sp>
      <p:sp>
        <p:nvSpPr>
          <p:cNvPr id="14" name="s3-text-13">
            <a:extLst xmlns:a="http://schemas.openxmlformats.org/drawingml/2006/main">
              <a:ext uri="{FF2B5EF4-FFF2-40B4-BE49-F238E27FC236}">
                <a16:creationId xmlns:a16="http://schemas.microsoft.com/office/drawing/2014/main" id="{CCFBFE5E-D6D8-42B2-8E96-FC73ACB2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095375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19:55</a:t>
            </a:r>
          </a:p>
        </p:txBody>
      </p:sp>
      <p:sp>
        <p:nvSpPr>
          <p:cNvPr id="15" name="s3-text-14">
            <a:extLst xmlns:a="http://schemas.openxmlformats.org/drawingml/2006/main">
              <a:ext uri="{FF2B5EF4-FFF2-40B4-BE49-F238E27FC236}">
                <a16:creationId xmlns:a16="http://schemas.microsoft.com/office/drawing/2014/main" id="{67216A1B-00E2-4BFF-8623-21F34FFE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105275"/>
            <a:ext cx="4048125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Camadas e fluxo de trabalho</a:t>
            </a:r>
          </a:p>
        </p:txBody>
      </p:sp>
      <p:sp>
        <p:nvSpPr>
          <p:cNvPr id="16" name="s3-text-15">
            <a:extLst xmlns:a="http://schemas.openxmlformats.org/drawingml/2006/main">
              <a:ext uri="{FF2B5EF4-FFF2-40B4-BE49-F238E27FC236}">
                <a16:creationId xmlns:a16="http://schemas.microsoft.com/office/drawing/2014/main" id="{1DA3490A-60C9-4785-B755-F93153CC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410075"/>
            <a:ext cx="4048125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25 min</a:t>
            </a:r>
          </a:p>
        </p:txBody>
      </p:sp>
      <p:sp>
        <p:nvSpPr>
          <p:cNvPr id="17" name="s3-text-16">
            <a:extLst xmlns:a="http://schemas.openxmlformats.org/drawingml/2006/main">
              <a:ext uri="{FF2B5EF4-FFF2-40B4-BE49-F238E27FC236}">
                <a16:creationId xmlns:a16="http://schemas.microsoft.com/office/drawing/2014/main" id="{0962B2CF-BB8B-42D7-B497-804916C9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95375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20:20</a:t>
            </a:r>
          </a:p>
        </p:txBody>
      </p:sp>
      <p:sp>
        <p:nvSpPr>
          <p:cNvPr id="18" name="s3-text-17">
            <a:extLst xmlns:a="http://schemas.openxmlformats.org/drawingml/2006/main">
              <a:ext uri="{FF2B5EF4-FFF2-40B4-BE49-F238E27FC236}">
                <a16:creationId xmlns:a16="http://schemas.microsoft.com/office/drawing/2014/main" id="{EF650DF5-C5B4-42B7-A190-2D4668B7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848225"/>
            <a:ext cx="4048125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Pausa</a:t>
            </a:r>
          </a:p>
        </p:txBody>
      </p:sp>
      <p:sp>
        <p:nvSpPr>
          <p:cNvPr id="19" name="s3-text-18">
            <a:extLst xmlns:a="http://schemas.openxmlformats.org/drawingml/2006/main">
              <a:ext uri="{FF2B5EF4-FFF2-40B4-BE49-F238E27FC236}">
                <a16:creationId xmlns:a16="http://schemas.microsoft.com/office/drawing/2014/main" id="{330196A2-5E6D-453A-9971-856270CA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153025"/>
            <a:ext cx="4048125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10 min</a:t>
            </a:r>
          </a:p>
        </p:txBody>
      </p:sp>
      <p:sp>
        <p:nvSpPr>
          <p:cNvPr id="20" name="s3-text-19">
            <a:extLst xmlns:a="http://schemas.openxmlformats.org/drawingml/2006/main">
              <a:ext uri="{FF2B5EF4-FFF2-40B4-BE49-F238E27FC236}">
                <a16:creationId xmlns:a16="http://schemas.microsoft.com/office/drawing/2014/main" id="{18B02A8C-0777-40DD-A842-031FB283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876425"/>
            <a:ext cx="1095375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20:30</a:t>
            </a:r>
          </a:p>
        </p:txBody>
      </p:sp>
      <p:sp>
        <p:nvSpPr>
          <p:cNvPr id="21" name="s3-text-20">
            <a:extLst xmlns:a="http://schemas.openxmlformats.org/drawingml/2006/main">
              <a:ext uri="{FF2B5EF4-FFF2-40B4-BE49-F238E27FC236}">
                <a16:creationId xmlns:a16="http://schemas.microsoft.com/office/drawing/2014/main" id="{A8F66843-A898-4778-AE5A-18DA9814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76425"/>
            <a:ext cx="4048125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História, usos e PLA</a:t>
            </a:r>
          </a:p>
        </p:txBody>
      </p:sp>
      <p:sp>
        <p:nvSpPr>
          <p:cNvPr id="22" name="s3-text-21">
            <a:extLst xmlns:a="http://schemas.openxmlformats.org/drawingml/2006/main">
              <a:ext uri="{FF2B5EF4-FFF2-40B4-BE49-F238E27FC236}">
                <a16:creationId xmlns:a16="http://schemas.microsoft.com/office/drawing/2014/main" id="{5CAC0B06-4ADD-4DD5-BA10-3EC559E3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81225"/>
            <a:ext cx="4048125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10 min</a:t>
            </a:r>
          </a:p>
        </p:txBody>
      </p:sp>
      <p:sp>
        <p:nvSpPr>
          <p:cNvPr id="23" name="s3-text-22">
            <a:extLst xmlns:a="http://schemas.openxmlformats.org/drawingml/2006/main">
              <a:ext uri="{FF2B5EF4-FFF2-40B4-BE49-F238E27FC236}">
                <a16:creationId xmlns:a16="http://schemas.microsoft.com/office/drawing/2014/main" id="{4AB4B1C4-71C0-47BD-B123-3017138C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19375"/>
            <a:ext cx="1095375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20:40</a:t>
            </a:r>
          </a:p>
        </p:txBody>
      </p:sp>
      <p:sp>
        <p:nvSpPr>
          <p:cNvPr id="24" name="s3-text-23">
            <a:extLst xmlns:a="http://schemas.openxmlformats.org/drawingml/2006/main">
              <a:ext uri="{FF2B5EF4-FFF2-40B4-BE49-F238E27FC236}">
                <a16:creationId xmlns:a16="http://schemas.microsoft.com/office/drawing/2014/main" id="{4C79A481-05CB-4FAF-B47A-2EFCDBBC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19375"/>
            <a:ext cx="4048125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Custos: calcular e comparar</a:t>
            </a:r>
          </a:p>
        </p:txBody>
      </p:sp>
      <p:sp>
        <p:nvSpPr>
          <p:cNvPr id="25" name="s3-text-24">
            <a:extLst xmlns:a="http://schemas.openxmlformats.org/drawingml/2006/main">
              <a:ext uri="{FF2B5EF4-FFF2-40B4-BE49-F238E27FC236}">
                <a16:creationId xmlns:a16="http://schemas.microsoft.com/office/drawing/2014/main" id="{DBB5DCC2-E1AC-4636-AEE9-8A8C480C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24175"/>
            <a:ext cx="4048125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25 min</a:t>
            </a:r>
          </a:p>
        </p:txBody>
      </p:sp>
      <p:sp>
        <p:nvSpPr>
          <p:cNvPr id="26" name="s3-text-25">
            <a:extLst xmlns:a="http://schemas.openxmlformats.org/drawingml/2006/main">
              <a:ext uri="{FF2B5EF4-FFF2-40B4-BE49-F238E27FC236}">
                <a16:creationId xmlns:a16="http://schemas.microsoft.com/office/drawing/2014/main" id="{38113D13-DD94-443D-B978-74818AC5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62325"/>
            <a:ext cx="1095375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21:05</a:t>
            </a:r>
          </a:p>
        </p:txBody>
      </p:sp>
      <p:sp>
        <p:nvSpPr>
          <p:cNvPr id="27" name="s3-text-26">
            <a:extLst xmlns:a="http://schemas.openxmlformats.org/drawingml/2006/main">
              <a:ext uri="{FF2B5EF4-FFF2-40B4-BE49-F238E27FC236}">
                <a16:creationId xmlns:a16="http://schemas.microsoft.com/office/drawing/2014/main" id="{612418C9-D9B1-4446-AA85-0C7B8240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62325"/>
            <a:ext cx="4048125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K1C: demonstração guiada</a:t>
            </a:r>
          </a:p>
        </p:txBody>
      </p:sp>
      <p:sp>
        <p:nvSpPr>
          <p:cNvPr id="28" name="s3-text-27">
            <a:extLst xmlns:a="http://schemas.openxmlformats.org/drawingml/2006/main">
              <a:ext uri="{FF2B5EF4-FFF2-40B4-BE49-F238E27FC236}">
                <a16:creationId xmlns:a16="http://schemas.microsoft.com/office/drawing/2014/main" id="{8D161E62-077F-4568-A4AA-ADC6DF68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67125"/>
            <a:ext cx="4048125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35 min</a:t>
            </a:r>
          </a:p>
        </p:txBody>
      </p:sp>
      <p:sp>
        <p:nvSpPr>
          <p:cNvPr id="29" name="s3-text-28">
            <a:extLst xmlns:a="http://schemas.openxmlformats.org/drawingml/2006/main">
              <a:ext uri="{FF2B5EF4-FFF2-40B4-BE49-F238E27FC236}">
                <a16:creationId xmlns:a16="http://schemas.microsoft.com/office/drawing/2014/main" id="{709EA53C-F10F-44CE-897A-7758594F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105275"/>
            <a:ext cx="1095375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21:40</a:t>
            </a:r>
          </a:p>
        </p:txBody>
      </p:sp>
      <p:sp>
        <p:nvSpPr>
          <p:cNvPr id="30" name="s3-text-29">
            <a:extLst xmlns:a="http://schemas.openxmlformats.org/drawingml/2006/main">
              <a:ext uri="{FF2B5EF4-FFF2-40B4-BE49-F238E27FC236}">
                <a16:creationId xmlns:a16="http://schemas.microsoft.com/office/drawing/2014/main" id="{2E0CE25A-36C9-4E32-A30A-D5AE134D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05275"/>
            <a:ext cx="4048125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Esboço de uma peça</a:t>
            </a:r>
          </a:p>
        </p:txBody>
      </p:sp>
      <p:sp>
        <p:nvSpPr>
          <p:cNvPr id="31" name="s3-text-30">
            <a:extLst xmlns:a="http://schemas.openxmlformats.org/drawingml/2006/main">
              <a:ext uri="{FF2B5EF4-FFF2-40B4-BE49-F238E27FC236}">
                <a16:creationId xmlns:a16="http://schemas.microsoft.com/office/drawing/2014/main" id="{4AFAF447-3CC5-4EAF-99EA-0908AEA1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10075"/>
            <a:ext cx="4048125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15 min</a:t>
            </a:r>
          </a:p>
        </p:txBody>
      </p:sp>
      <p:sp>
        <p:nvSpPr>
          <p:cNvPr id="32" name="s3-text-31">
            <a:extLst xmlns:a="http://schemas.openxmlformats.org/drawingml/2006/main">
              <a:ext uri="{FF2B5EF4-FFF2-40B4-BE49-F238E27FC236}">
                <a16:creationId xmlns:a16="http://schemas.microsoft.com/office/drawing/2014/main" id="{AE8AF6A7-8455-4EB3-A94B-478DBD87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48225"/>
            <a:ext cx="1095375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21:55</a:t>
            </a:r>
          </a:p>
        </p:txBody>
      </p:sp>
      <p:sp>
        <p:nvSpPr>
          <p:cNvPr id="33" name="s3-text-32">
            <a:extLst xmlns:a="http://schemas.openxmlformats.org/drawingml/2006/main">
              <a:ext uri="{FF2B5EF4-FFF2-40B4-BE49-F238E27FC236}">
                <a16:creationId xmlns:a16="http://schemas.microsoft.com/office/drawing/2014/main" id="{0F341137-BA34-45B4-AC53-6BBD8063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48225"/>
            <a:ext cx="4048125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Saída e próximo encontro</a:t>
            </a:r>
          </a:p>
        </p:txBody>
      </p:sp>
      <p:sp>
        <p:nvSpPr>
          <p:cNvPr id="34" name="s3-text-33">
            <a:extLst xmlns:a="http://schemas.openxmlformats.org/drawingml/2006/main">
              <a:ext uri="{FF2B5EF4-FFF2-40B4-BE49-F238E27FC236}">
                <a16:creationId xmlns:a16="http://schemas.microsoft.com/office/drawing/2014/main" id="{F7882887-F102-4762-841C-48059CEA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153025"/>
            <a:ext cx="4048125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5 min</a:t>
            </a:r>
          </a:p>
        </p:txBody>
      </p:sp>
    </p:spTree>
    <p:extLst>
      <p:ext uri="{BB962C8B-B14F-4D97-AF65-F5344CB8AC3E}">
        <p14:creationId xmlns:p14="http://schemas.microsoft.com/office/powerpoint/2010/main" val="18394902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4-text-1">
            <a:extLst xmlns:a="http://schemas.openxmlformats.org/drawingml/2006/main">
              <a:ext uri="{FF2B5EF4-FFF2-40B4-BE49-F238E27FC236}">
                <a16:creationId xmlns:a16="http://schemas.microsoft.com/office/drawing/2014/main" id="{64869FDC-8D16-4A41-9FA0-8BC9D57D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Um objeto que você gostaria de criar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F06E0-E155-4BAF-8E64-66A96193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4-text-2">
            <a:extLst xmlns:a="http://schemas.openxmlformats.org/drawingml/2006/main">
              <a:ext uri="{FF2B5EF4-FFF2-40B4-BE49-F238E27FC236}">
                <a16:creationId xmlns:a16="http://schemas.microsoft.com/office/drawing/2014/main" id="{14C5AAB0-56AD-4C65-9A3E-83AF0683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Conversa em duplas | 13 min</a:t>
            </a:r>
          </a:p>
        </p:txBody>
      </p:sp>
      <p:sp>
        <p:nvSpPr>
          <p:cNvPr id="4" name="s4-text-3">
            <a:extLst xmlns:a="http://schemas.openxmlformats.org/drawingml/2006/main">
              <a:ext uri="{FF2B5EF4-FFF2-40B4-BE49-F238E27FC236}">
                <a16:creationId xmlns:a16="http://schemas.microsoft.com/office/drawing/2014/main" id="{2541B86A-54C5-4158-8CD9-40E664A1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s4-text-4">
            <a:extLst xmlns:a="http://schemas.openxmlformats.org/drawingml/2006/main">
              <a:ext uri="{FF2B5EF4-FFF2-40B4-BE49-F238E27FC236}">
                <a16:creationId xmlns:a16="http://schemas.microsoft.com/office/drawing/2014/main" id="{6D260B68-B30A-41DD-AF24-80A1A17B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286500" cy="679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Qual problema</a:t>
            </a:r>
          </a:p>
        </p:txBody>
      </p:sp>
      <p:sp>
        <p:nvSpPr>
          <p:cNvPr id="6" name="s4-text-5">
            <a:extLst xmlns:a="http://schemas.openxmlformats.org/drawingml/2006/main">
              <a:ext uri="{FF2B5EF4-FFF2-40B4-BE49-F238E27FC236}">
                <a16:creationId xmlns:a16="http://schemas.microsoft.com/office/drawing/2014/main" id="{DDFED807-EC01-4C63-B841-4B9B293C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9764"/>
            <a:ext cx="6286500" cy="679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ele resolveria?</a:t>
            </a:r>
          </a:p>
        </p:txBody>
      </p:sp>
      <p:sp>
        <p:nvSpPr>
          <p:cNvPr id="7" name="s4-text-6">
            <a:extLst xmlns:a="http://schemas.openxmlformats.org/drawingml/2006/main">
              <a:ext uri="{FF2B5EF4-FFF2-40B4-BE49-F238E27FC236}">
                <a16:creationId xmlns:a16="http://schemas.microsoft.com/office/drawing/2014/main" id="{ED29C6A5-9B76-401A-9AA3-9D4EC41F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0"/>
            <a:ext cx="619125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Diga seu nome, descreva o objeto</a:t>
            </a:r>
          </a:p>
        </p:txBody>
      </p:sp>
      <p:sp>
        <p:nvSpPr>
          <p:cNvPr id="8" name="s4-text-7">
            <a:extLst xmlns:a="http://schemas.openxmlformats.org/drawingml/2006/main">
              <a:ext uri="{FF2B5EF4-FFF2-40B4-BE49-F238E27FC236}">
                <a16:creationId xmlns:a16="http://schemas.microsoft.com/office/drawing/2014/main" id="{E7C527E0-7627-4FF7-A663-D98A704F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66223"/>
            <a:ext cx="619125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e conte por que ele seria útil.</a:t>
            </a:r>
          </a:p>
        </p:txBody>
      </p:sp>
      <p:sp>
        <p:nvSpPr>
          <p:cNvPr id="9" name="s4-text-8">
            <a:extLst xmlns:a="http://schemas.openxmlformats.org/drawingml/2006/main">
              <a:ext uri="{FF2B5EF4-FFF2-40B4-BE49-F238E27FC236}">
                <a16:creationId xmlns:a16="http://schemas.microsoft.com/office/drawing/2014/main" id="{C988D040-81FA-4798-905F-0902451B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43150"/>
            <a:ext cx="3781425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Pense em algo pequeno:</a:t>
            </a:r>
          </a:p>
        </p:txBody>
      </p:sp>
      <p:sp>
        <p:nvSpPr>
          <p:cNvPr id="10" name="s4-text-9">
            <a:extLst xmlns:a="http://schemas.openxmlformats.org/drawingml/2006/main">
              <a:ext uri="{FF2B5EF4-FFF2-40B4-BE49-F238E27FC236}">
                <a16:creationId xmlns:a16="http://schemas.microsoft.com/office/drawing/2014/main" id="{71FAE787-1FAA-461A-8641-CD4211A2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82907"/>
            <a:ext cx="3781425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um identificador, um</a:t>
            </a:r>
          </a:p>
        </p:txBody>
      </p:sp>
      <p:sp>
        <p:nvSpPr>
          <p:cNvPr id="11" name="s4-text-10">
            <a:extLst xmlns:a="http://schemas.openxmlformats.org/drawingml/2006/main">
              <a:ext uri="{FF2B5EF4-FFF2-40B4-BE49-F238E27FC236}">
                <a16:creationId xmlns:a16="http://schemas.microsoft.com/office/drawing/2014/main" id="{BD135D40-E04E-469E-A3E2-82A6280C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22664"/>
            <a:ext cx="3781425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organizador</a:t>
            </a:r>
          </a:p>
        </p:txBody>
      </p:sp>
      <p:sp>
        <p:nvSpPr>
          <p:cNvPr id="12" name="s4-text-11">
            <a:extLst xmlns:a="http://schemas.openxmlformats.org/drawingml/2006/main">
              <a:ext uri="{FF2B5EF4-FFF2-40B4-BE49-F238E27FC236}">
                <a16:creationId xmlns:a16="http://schemas.microsoft.com/office/drawing/2014/main" id="{F7960A14-D491-4877-A6CD-FC4034CC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62420"/>
            <a:ext cx="3781425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ou uma peça para aprender.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D952F-F78B-4BB9-A642-60A3EDF8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14" name="s4-text-12">
            <a:extLst xmlns:a="http://schemas.openxmlformats.org/drawingml/2006/main">
              <a:ext uri="{FF2B5EF4-FFF2-40B4-BE49-F238E27FC236}">
                <a16:creationId xmlns:a16="http://schemas.microsoft.com/office/drawing/2014/main" id="{A204992C-A8E7-44C1-9047-A0D4F89C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81675"/>
            <a:ext cx="10563225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Depois, apresente uma ideia da dupla em até 30 segundos.</a:t>
            </a:r>
          </a:p>
        </p:txBody>
      </p:sp>
    </p:spTree>
    <p:extLst>
      <p:ext uri="{BB962C8B-B14F-4D97-AF65-F5344CB8AC3E}">
        <p14:creationId xmlns:p14="http://schemas.microsoft.com/office/powerpoint/2010/main" val="411331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5-text-1">
            <a:extLst xmlns:a="http://schemas.openxmlformats.org/drawingml/2006/main">
              <a:ext uri="{FF2B5EF4-FFF2-40B4-BE49-F238E27FC236}">
                <a16:creationId xmlns:a16="http://schemas.microsoft.com/office/drawing/2014/main" id="{3D0498E3-ED92-4C47-82D4-B2705ADD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O curso e o projeto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908E8-C584-4A05-B002-11685437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5-text-2">
            <a:extLst xmlns:a="http://schemas.openxmlformats.org/drawingml/2006/main">
              <a:ext uri="{FF2B5EF4-FFF2-40B4-BE49-F238E27FC236}">
                <a16:creationId xmlns:a16="http://schemas.microsoft.com/office/drawing/2014/main" id="{74BFCAC9-B1B1-4001-9FDF-77CB2B7E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Curso e combinados | 20-35 min</a:t>
            </a:r>
          </a:p>
        </p:txBody>
      </p:sp>
      <p:sp>
        <p:nvSpPr>
          <p:cNvPr id="4" name="s5-text-3">
            <a:extLst xmlns:a="http://schemas.openxmlformats.org/drawingml/2006/main">
              <a:ext uri="{FF2B5EF4-FFF2-40B4-BE49-F238E27FC236}">
                <a16:creationId xmlns:a16="http://schemas.microsoft.com/office/drawing/2014/main" id="{10F77B13-5F0E-43FA-8DC8-A098114D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5-text-4">
            <a:extLst xmlns:a="http://schemas.openxmlformats.org/drawingml/2006/main">
              <a:ext uri="{FF2B5EF4-FFF2-40B4-BE49-F238E27FC236}">
                <a16:creationId xmlns:a16="http://schemas.microsoft.com/office/drawing/2014/main" id="{AD92033C-1999-4F8A-86E6-E9C69652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143250" cy="960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s5-text-5">
            <a:extLst xmlns:a="http://schemas.openxmlformats.org/drawingml/2006/main">
              <a:ext uri="{FF2B5EF4-FFF2-40B4-BE49-F238E27FC236}">
                <a16:creationId xmlns:a16="http://schemas.microsoft.com/office/drawing/2014/main" id="{235F8520-0759-4DBA-95F9-13021AB5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381375" cy="328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encontros</a:t>
            </a:r>
          </a:p>
        </p:txBody>
      </p:sp>
      <p:sp>
        <p:nvSpPr>
          <p:cNvPr id="7" name="s5-text-6">
            <a:extLst xmlns:a="http://schemas.openxmlformats.org/drawingml/2006/main">
              <a:ext uri="{FF2B5EF4-FFF2-40B4-BE49-F238E27FC236}">
                <a16:creationId xmlns:a16="http://schemas.microsoft.com/office/drawing/2014/main" id="{0903D35C-5D82-47C7-A725-3476E68E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24050"/>
            <a:ext cx="3143250" cy="960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30h</a:t>
            </a:r>
          </a:p>
        </p:txBody>
      </p:sp>
      <p:sp>
        <p:nvSpPr>
          <p:cNvPr id="8" name="s5-text-7">
            <a:extLst xmlns:a="http://schemas.openxmlformats.org/drawingml/2006/main">
              <a:ext uri="{FF2B5EF4-FFF2-40B4-BE49-F238E27FC236}">
                <a16:creationId xmlns:a16="http://schemas.microsoft.com/office/drawing/2014/main" id="{E2890EA8-4727-49EC-8C3A-C9FF95E0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76550"/>
            <a:ext cx="3381375" cy="328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de curso</a:t>
            </a:r>
          </a:p>
        </p:txBody>
      </p:sp>
      <p:sp>
        <p:nvSpPr>
          <p:cNvPr id="9" name="s5-text-8">
            <a:extLst xmlns:a="http://schemas.openxmlformats.org/drawingml/2006/main">
              <a:ext uri="{FF2B5EF4-FFF2-40B4-BE49-F238E27FC236}">
                <a16:creationId xmlns:a16="http://schemas.microsoft.com/office/drawing/2014/main" id="{FE00936C-9DEC-461A-AD48-C345D0C5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924050"/>
            <a:ext cx="3143250" cy="960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75%</a:t>
            </a:r>
          </a:p>
        </p:txBody>
      </p:sp>
      <p:sp>
        <p:nvSpPr>
          <p:cNvPr id="10" name="s5-text-9">
            <a:extLst xmlns:a="http://schemas.openxmlformats.org/drawingml/2006/main">
              <a:ext uri="{FF2B5EF4-FFF2-40B4-BE49-F238E27FC236}">
                <a16:creationId xmlns:a16="http://schemas.microsoft.com/office/drawing/2014/main" id="{3799A814-195F-4280-A4EF-99941EA9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76550"/>
            <a:ext cx="3381375" cy="328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de presença mínima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37C0D-36C0-42EB-9AA9-CAB27C1C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12" name="s5-text-10">
            <a:extLst xmlns:a="http://schemas.openxmlformats.org/drawingml/2006/main">
              <a:ext uri="{FF2B5EF4-FFF2-40B4-BE49-F238E27FC236}">
                <a16:creationId xmlns:a16="http://schemas.microsoft.com/office/drawing/2014/main" id="{38C38811-5BD9-4A8C-B7CF-DBDBB174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9525000" cy="421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Projeto em dupla ou trio</a:t>
            </a:r>
          </a:p>
        </p:txBody>
      </p:sp>
      <p:sp>
        <p:nvSpPr>
          <p:cNvPr id="13" name="s5-text-11">
            <a:extLst xmlns:a="http://schemas.openxmlformats.org/drawingml/2006/main">
              <a:ext uri="{FF2B5EF4-FFF2-40B4-BE49-F238E27FC236}">
                <a16:creationId xmlns:a16="http://schemas.microsoft.com/office/drawing/2014/main" id="{C168AE80-301E-4193-BA62-28E2CD5D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4775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Desenhar, preparar e imprimir uma peça própria.</a:t>
            </a:r>
          </a:p>
        </p:txBody>
      </p:sp>
      <p:sp>
        <p:nvSpPr>
          <p:cNvPr id="14" name="s5-text-12">
            <a:extLst xmlns:a="http://schemas.openxmlformats.org/drawingml/2006/main">
              <a:ext uri="{FF2B5EF4-FFF2-40B4-BE49-F238E27FC236}">
                <a16:creationId xmlns:a16="http://schemas.microsoft.com/office/drawing/2014/main" id="{7112E951-AF74-43D0-A5F8-F61120C9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3948"/>
            <a:ext cx="104775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Explicar as escolhas, os testes e o que pode melhorar.</a:t>
            </a:r>
          </a:p>
        </p:txBody>
      </p:sp>
      <p:sp>
        <p:nvSpPr>
          <p:cNvPr id="15" name="s5-text-13">
            <a:extLst xmlns:a="http://schemas.openxmlformats.org/drawingml/2006/main">
              <a:ext uri="{FF2B5EF4-FFF2-40B4-BE49-F238E27FC236}">
                <a16:creationId xmlns:a16="http://schemas.microsoft.com/office/drawing/2014/main" id="{E040497A-4100-4F60-93FC-C2D3EB42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477500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Acompanhamento: participação, processo e apresentação final.</a:t>
            </a:r>
          </a:p>
        </p:txBody>
      </p:sp>
    </p:spTree>
    <p:extLst>
      <p:ext uri="{BB962C8B-B14F-4D97-AF65-F5344CB8AC3E}">
        <p14:creationId xmlns:p14="http://schemas.microsoft.com/office/powerpoint/2010/main" val="19854277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6-text-1">
            <a:extLst xmlns:a="http://schemas.openxmlformats.org/drawingml/2006/main">
              <a:ext uri="{FF2B5EF4-FFF2-40B4-BE49-F238E27FC236}">
                <a16:creationId xmlns:a16="http://schemas.microsoft.com/office/drawing/2014/main" id="{BB953855-D2F1-4573-9133-C0895583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Aprender em uma turma com ritmos diferentes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A892D-1843-4462-8B75-2E6524D1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6-text-2">
            <a:extLst xmlns:a="http://schemas.openxmlformats.org/drawingml/2006/main">
              <a:ext uri="{FF2B5EF4-FFF2-40B4-BE49-F238E27FC236}">
                <a16:creationId xmlns:a16="http://schemas.microsoft.com/office/drawing/2014/main" id="{3BE69E4D-BBE6-420E-909E-FC28B904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Curso e combinados | 20-35 min</a:t>
            </a:r>
          </a:p>
        </p:txBody>
      </p:sp>
      <p:sp>
        <p:nvSpPr>
          <p:cNvPr id="4" name="s6-text-3">
            <a:extLst xmlns:a="http://schemas.openxmlformats.org/drawingml/2006/main">
              <a:ext uri="{FF2B5EF4-FFF2-40B4-BE49-F238E27FC236}">
                <a16:creationId xmlns:a16="http://schemas.microsoft.com/office/drawing/2014/main" id="{637FE0F0-6860-4366-9DD7-42D3A660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s6-text-4">
            <a:extLst xmlns:a="http://schemas.openxmlformats.org/drawingml/2006/main">
              <a:ext uri="{FF2B5EF4-FFF2-40B4-BE49-F238E27FC236}">
                <a16:creationId xmlns:a16="http://schemas.microsoft.com/office/drawing/2014/main" id="{7A6CD231-1635-49C4-A2A1-ECC74388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953000" cy="574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Ninguém precisa</a:t>
            </a:r>
          </a:p>
        </p:txBody>
      </p:sp>
      <p:sp>
        <p:nvSpPr>
          <p:cNvPr id="6" name="s6-text-5">
            <a:extLst xmlns:a="http://schemas.openxmlformats.org/drawingml/2006/main">
              <a:ext uri="{FF2B5EF4-FFF2-40B4-BE49-F238E27FC236}">
                <a16:creationId xmlns:a16="http://schemas.microsoft.com/office/drawing/2014/main" id="{BE10DBC7-12F8-41AB-B917-BD6DB624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4322"/>
            <a:ext cx="4953000" cy="574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chegar sabendo</a:t>
            </a:r>
          </a:p>
        </p:txBody>
      </p:sp>
      <p:sp>
        <p:nvSpPr>
          <p:cNvPr id="7" name="s6-text-6">
            <a:extLst xmlns:a="http://schemas.openxmlformats.org/drawingml/2006/main">
              <a:ext uri="{FF2B5EF4-FFF2-40B4-BE49-F238E27FC236}">
                <a16:creationId xmlns:a16="http://schemas.microsoft.com/office/drawing/2014/main" id="{A8D18984-6E35-4324-BE17-390FF3A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4905375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Já usou mouse?</a:t>
            </a:r>
          </a:p>
        </p:txBody>
      </p:sp>
      <p:sp>
        <p:nvSpPr>
          <p:cNvPr id="8" name="s6-text-7">
            <a:extLst xmlns:a="http://schemas.openxmlformats.org/drawingml/2006/main">
              <a:ext uri="{FF2B5EF4-FFF2-40B4-BE49-F238E27FC236}">
                <a16:creationId xmlns:a16="http://schemas.microsoft.com/office/drawing/2014/main" id="{BF2A74E3-CF40-4D99-A4A8-F9C28D3F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1448"/>
            <a:ext cx="4905375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Já salvou um arquivo?</a:t>
            </a:r>
          </a:p>
        </p:txBody>
      </p:sp>
      <p:sp>
        <p:nvSpPr>
          <p:cNvPr id="9" name="s6-text-8">
            <a:extLst xmlns:a="http://schemas.openxmlformats.org/drawingml/2006/main">
              <a:ext uri="{FF2B5EF4-FFF2-40B4-BE49-F238E27FC236}">
                <a16:creationId xmlns:a16="http://schemas.microsoft.com/office/drawing/2014/main" id="{92CCD472-9B5C-41EB-A190-13CB983F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2920"/>
            <a:ext cx="4905375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Quer ajuda para começar?</a:t>
            </a:r>
          </a:p>
        </p:txBody>
      </p:sp>
      <p:sp>
        <p:nvSpPr>
          <p:cNvPr id="10" name="s6-text-9">
            <a:extLst xmlns:a="http://schemas.openxmlformats.org/drawingml/2006/main">
              <a:ext uri="{FF2B5EF4-FFF2-40B4-BE49-F238E27FC236}">
                <a16:creationId xmlns:a16="http://schemas.microsoft.com/office/drawing/2014/main" id="{2049E137-E7B0-45B2-B68E-E83C287C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85950"/>
            <a:ext cx="466725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Revezar</a:t>
            </a:r>
          </a:p>
        </p:txBody>
      </p:sp>
      <p:sp>
        <p:nvSpPr>
          <p:cNvPr id="11" name="s6-text-10">
            <a:extLst xmlns:a="http://schemas.openxmlformats.org/drawingml/2006/main">
              <a:ext uri="{FF2B5EF4-FFF2-40B4-BE49-F238E27FC236}">
                <a16:creationId xmlns:a16="http://schemas.microsoft.com/office/drawing/2014/main" id="{8191272A-9886-455F-B4BD-86F29242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295525"/>
            <a:ext cx="466725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Quem executa e quem confere trocam de</a:t>
            </a:r>
          </a:p>
        </p:txBody>
      </p:sp>
      <p:sp>
        <p:nvSpPr>
          <p:cNvPr id="12" name="s6-text-11">
            <a:extLst xmlns:a="http://schemas.openxmlformats.org/drawingml/2006/main">
              <a:ext uri="{FF2B5EF4-FFF2-40B4-BE49-F238E27FC236}">
                <a16:creationId xmlns:a16="http://schemas.microsoft.com/office/drawing/2014/main" id="{0D64A111-1DCC-4B4E-AA5E-1C346574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00135"/>
            <a:ext cx="466725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papel.</a:t>
            </a:r>
          </a:p>
        </p:txBody>
      </p:sp>
      <p:sp>
        <p:nvSpPr>
          <p:cNvPr id="13" name="s6-text-12">
            <a:extLst xmlns:a="http://schemas.openxmlformats.org/drawingml/2006/main">
              <a:ext uri="{FF2B5EF4-FFF2-40B4-BE49-F238E27FC236}">
                <a16:creationId xmlns:a16="http://schemas.microsoft.com/office/drawing/2014/main" id="{B04F701F-766B-4678-8E96-653F4072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133725"/>
            <a:ext cx="466725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Perguntar</a:t>
            </a:r>
          </a:p>
        </p:txBody>
      </p:sp>
      <p:sp>
        <p:nvSpPr>
          <p:cNvPr id="14" name="s6-text-13">
            <a:extLst xmlns:a="http://schemas.openxmlformats.org/drawingml/2006/main">
              <a:ext uri="{FF2B5EF4-FFF2-40B4-BE49-F238E27FC236}">
                <a16:creationId xmlns:a16="http://schemas.microsoft.com/office/drawing/2014/main" id="{2FEDE4C5-3721-4E5E-B743-FE079A61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543300"/>
            <a:ext cx="466725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Dúvidas ajudam a turma; escute sem</a:t>
            </a:r>
          </a:p>
        </p:txBody>
      </p:sp>
      <p:sp>
        <p:nvSpPr>
          <p:cNvPr id="15" name="s6-text-14">
            <a:extLst xmlns:a="http://schemas.openxmlformats.org/drawingml/2006/main">
              <a:ext uri="{FF2B5EF4-FFF2-40B4-BE49-F238E27FC236}">
                <a16:creationId xmlns:a16="http://schemas.microsoft.com/office/drawing/2014/main" id="{539ADD81-D9CB-49D3-9F14-2BCA9852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847910"/>
            <a:ext cx="466725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interromper.</a:t>
            </a:r>
          </a:p>
        </p:txBody>
      </p:sp>
      <p:sp>
        <p:nvSpPr>
          <p:cNvPr id="16" name="s6-text-15">
            <a:extLst xmlns:a="http://schemas.openxmlformats.org/drawingml/2006/main">
              <a:ext uri="{FF2B5EF4-FFF2-40B4-BE49-F238E27FC236}">
                <a16:creationId xmlns:a16="http://schemas.microsoft.com/office/drawing/2014/main" id="{37A2C9B2-7D6E-4F58-A2CF-32D89903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381500"/>
            <a:ext cx="466725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Cuidar</a:t>
            </a:r>
          </a:p>
        </p:txBody>
      </p:sp>
      <p:sp>
        <p:nvSpPr>
          <p:cNvPr id="17" name="s6-text-16">
            <a:extLst xmlns:a="http://schemas.openxmlformats.org/drawingml/2006/main">
              <a:ext uri="{FF2B5EF4-FFF2-40B4-BE49-F238E27FC236}">
                <a16:creationId xmlns:a16="http://schemas.microsoft.com/office/drawing/2014/main" id="{6D99F187-70EB-44E5-A612-280B3914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791075"/>
            <a:ext cx="466725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Celular no silencioso e equipamento</a:t>
            </a:r>
          </a:p>
        </p:txBody>
      </p:sp>
      <p:sp>
        <p:nvSpPr>
          <p:cNvPr id="18" name="s6-text-17">
            <a:extLst xmlns:a="http://schemas.openxmlformats.org/drawingml/2006/main">
              <a:ext uri="{FF2B5EF4-FFF2-40B4-BE49-F238E27FC236}">
                <a16:creationId xmlns:a16="http://schemas.microsoft.com/office/drawing/2014/main" id="{E22B2B6A-E81A-434C-9D94-73EB6633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095685"/>
            <a:ext cx="466725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compartilhado.</a:t>
            </a:r>
          </a:p>
        </p:txBody>
      </p:sp>
    </p:spTree>
    <p:extLst>
      <p:ext uri="{BB962C8B-B14F-4D97-AF65-F5344CB8AC3E}">
        <p14:creationId xmlns:p14="http://schemas.microsoft.com/office/powerpoint/2010/main" val="15004370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7-text-1">
            <a:extLst xmlns:a="http://schemas.openxmlformats.org/drawingml/2006/main">
              <a:ext uri="{FF2B5EF4-FFF2-40B4-BE49-F238E27FC236}">
                <a16:creationId xmlns:a16="http://schemas.microsoft.com/office/drawing/2014/main" id="{D02C6E09-0F5B-4AE5-ACD7-C5DF93A6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Segurança: quatro cuidados essenciais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79F6E-8E3C-4714-9714-DB5B1EBE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7-text-2">
            <a:extLst xmlns:a="http://schemas.openxmlformats.org/drawingml/2006/main">
              <a:ext uri="{FF2B5EF4-FFF2-40B4-BE49-F238E27FC236}">
                <a16:creationId xmlns:a16="http://schemas.microsoft.com/office/drawing/2014/main" id="{875E9468-6650-498D-8955-3174809C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Segurança | 35-55 min</a:t>
            </a:r>
          </a:p>
        </p:txBody>
      </p:sp>
      <p:sp>
        <p:nvSpPr>
          <p:cNvPr id="4" name="s7-text-3">
            <a:extLst xmlns:a="http://schemas.openxmlformats.org/drawingml/2006/main">
              <a:ext uri="{FF2B5EF4-FFF2-40B4-BE49-F238E27FC236}">
                <a16:creationId xmlns:a16="http://schemas.microsoft.com/office/drawing/2014/main" id="{70B0A7C9-AF87-4BFE-95DA-D4380EE2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s7-text-4">
            <a:extLst xmlns:a="http://schemas.openxmlformats.org/drawingml/2006/main">
              <a:ext uri="{FF2B5EF4-FFF2-40B4-BE49-F238E27FC236}">
                <a16:creationId xmlns:a16="http://schemas.microsoft.com/office/drawing/2014/main" id="{083F3D84-9EB6-4600-9FB9-B88C1221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619125" cy="445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7-text-5">
            <a:extLst xmlns:a="http://schemas.openxmlformats.org/drawingml/2006/main">
              <a:ext uri="{FF2B5EF4-FFF2-40B4-BE49-F238E27FC236}">
                <a16:creationId xmlns:a16="http://schemas.microsoft.com/office/drawing/2014/main" id="{1AC24075-9402-4486-B026-407969CC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876425"/>
            <a:ext cx="4333875" cy="37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Calor</a:t>
            </a:r>
          </a:p>
        </p:txBody>
      </p:sp>
      <p:sp>
        <p:nvSpPr>
          <p:cNvPr id="7" name="s7-text-6">
            <a:extLst xmlns:a="http://schemas.openxmlformats.org/drawingml/2006/main">
              <a:ext uri="{FF2B5EF4-FFF2-40B4-BE49-F238E27FC236}">
                <a16:creationId xmlns:a16="http://schemas.microsoft.com/office/drawing/2014/main" id="{058A2185-E16B-455C-B1DC-CCC48A1C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390775"/>
            <a:ext cx="43815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Bico e mesa causam queimaduras.</a:t>
            </a:r>
          </a:p>
        </p:txBody>
      </p:sp>
      <p:sp>
        <p:nvSpPr>
          <p:cNvPr id="8" name="s7-text-7">
            <a:extLst xmlns:a="http://schemas.openxmlformats.org/drawingml/2006/main">
              <a:ext uri="{FF2B5EF4-FFF2-40B4-BE49-F238E27FC236}">
                <a16:creationId xmlns:a16="http://schemas.microsoft.com/office/drawing/2014/main" id="{FBB086DD-C148-4C1F-AF7B-893ACD5D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95385"/>
            <a:ext cx="43815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Espere o resfriamento e a liberação.</a:t>
            </a:r>
          </a:p>
        </p:txBody>
      </p:sp>
      <p:sp>
        <p:nvSpPr>
          <p:cNvPr id="9" name="s7-text-8">
            <a:extLst xmlns:a="http://schemas.openxmlformats.org/drawingml/2006/main">
              <a:ext uri="{FF2B5EF4-FFF2-40B4-BE49-F238E27FC236}">
                <a16:creationId xmlns:a16="http://schemas.microsoft.com/office/drawing/2014/main" id="{E7FD8202-D218-4F83-AF4A-85D1E811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876425"/>
            <a:ext cx="619125" cy="445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s7-text-9">
            <a:extLst xmlns:a="http://schemas.openxmlformats.org/drawingml/2006/main">
              <a:ext uri="{FF2B5EF4-FFF2-40B4-BE49-F238E27FC236}">
                <a16:creationId xmlns:a16="http://schemas.microsoft.com/office/drawing/2014/main" id="{48C8C1FD-D8A0-45ED-AB9A-7FDBEF80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76425"/>
            <a:ext cx="4333875" cy="37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Movimento</a:t>
            </a:r>
          </a:p>
        </p:txBody>
      </p:sp>
      <p:sp>
        <p:nvSpPr>
          <p:cNvPr id="11" name="s7-text-10">
            <a:extLst xmlns:a="http://schemas.openxmlformats.org/drawingml/2006/main">
              <a:ext uri="{FF2B5EF4-FFF2-40B4-BE49-F238E27FC236}">
                <a16:creationId xmlns:a16="http://schemas.microsoft.com/office/drawing/2014/main" id="{94AF167C-A971-42BF-8708-522232A4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90775"/>
            <a:ext cx="43815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Mãos, cabelos e roupas longe</a:t>
            </a:r>
          </a:p>
        </p:txBody>
      </p:sp>
      <p:sp>
        <p:nvSpPr>
          <p:cNvPr id="12" name="s7-text-11">
            <a:extLst xmlns:a="http://schemas.openxmlformats.org/drawingml/2006/main">
              <a:ext uri="{FF2B5EF4-FFF2-40B4-BE49-F238E27FC236}">
                <a16:creationId xmlns:a16="http://schemas.microsoft.com/office/drawing/2014/main" id="{49AF1A8D-72FA-4B68-86C6-C5E00618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95385"/>
            <a:ext cx="43815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durante calibração e impressão.</a:t>
            </a:r>
          </a:p>
        </p:txBody>
      </p:sp>
      <p:sp>
        <p:nvSpPr>
          <p:cNvPr id="13" name="s7-text-12">
            <a:extLst xmlns:a="http://schemas.openxmlformats.org/drawingml/2006/main">
              <a:ext uri="{FF2B5EF4-FFF2-40B4-BE49-F238E27FC236}">
                <a16:creationId xmlns:a16="http://schemas.microsoft.com/office/drawing/2014/main" id="{BDE325B7-965D-4AB5-A700-68B354FE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619125" cy="445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s7-text-13">
            <a:extLst xmlns:a="http://schemas.openxmlformats.org/drawingml/2006/main">
              <a:ext uri="{FF2B5EF4-FFF2-40B4-BE49-F238E27FC236}">
                <a16:creationId xmlns:a16="http://schemas.microsoft.com/office/drawing/2014/main" id="{A18D6C36-55C2-4BF3-BA2E-1CB8C149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38550"/>
            <a:ext cx="4333875" cy="37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Ar do ambiente</a:t>
            </a:r>
          </a:p>
        </p:txBody>
      </p:sp>
      <p:sp>
        <p:nvSpPr>
          <p:cNvPr id="15" name="s7-text-14">
            <a:extLst xmlns:a="http://schemas.openxmlformats.org/drawingml/2006/main">
              <a:ext uri="{FF2B5EF4-FFF2-40B4-BE49-F238E27FC236}">
                <a16:creationId xmlns:a16="http://schemas.microsoft.com/office/drawing/2014/main" id="{4BB1777B-B062-41E5-8CDD-0D5659AB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152900"/>
            <a:ext cx="43815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Mantenha ventilação adequada.</a:t>
            </a:r>
          </a:p>
        </p:txBody>
      </p:sp>
      <p:sp>
        <p:nvSpPr>
          <p:cNvPr id="16" name="s7-text-15">
            <a:extLst xmlns:a="http://schemas.openxmlformats.org/drawingml/2006/main">
              <a:ext uri="{FF2B5EF4-FFF2-40B4-BE49-F238E27FC236}">
                <a16:creationId xmlns:a16="http://schemas.microsoft.com/office/drawing/2014/main" id="{510131E6-DCA8-4E16-897E-397EA4EC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457510"/>
            <a:ext cx="43815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PLA também pode emitir partículas.</a:t>
            </a:r>
          </a:p>
        </p:txBody>
      </p:sp>
      <p:sp>
        <p:nvSpPr>
          <p:cNvPr id="17" name="s7-text-16">
            <a:extLst xmlns:a="http://schemas.openxmlformats.org/drawingml/2006/main">
              <a:ext uri="{FF2B5EF4-FFF2-40B4-BE49-F238E27FC236}">
                <a16:creationId xmlns:a16="http://schemas.microsoft.com/office/drawing/2014/main" id="{E8165512-F4D1-4BB2-8475-4308ACF8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38550"/>
            <a:ext cx="619125" cy="445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s7-text-17">
            <a:extLst xmlns:a="http://schemas.openxmlformats.org/drawingml/2006/main">
              <a:ext uri="{FF2B5EF4-FFF2-40B4-BE49-F238E27FC236}">
                <a16:creationId xmlns:a16="http://schemas.microsoft.com/office/drawing/2014/main" id="{6B9CB604-839C-46BB-84C0-45419EE9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4333875" cy="37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Sinal de problema</a:t>
            </a:r>
          </a:p>
        </p:txBody>
      </p:sp>
      <p:sp>
        <p:nvSpPr>
          <p:cNvPr id="19" name="s7-text-18">
            <a:extLst xmlns:a="http://schemas.openxmlformats.org/drawingml/2006/main">
              <a:ext uri="{FF2B5EF4-FFF2-40B4-BE49-F238E27FC236}">
                <a16:creationId xmlns:a16="http://schemas.microsoft.com/office/drawing/2014/main" id="{C73BDE7F-DBFA-4EB1-9714-596F78D4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43815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Afaste-se e chame o professor.</a:t>
            </a:r>
          </a:p>
        </p:txBody>
      </p:sp>
      <p:sp>
        <p:nvSpPr>
          <p:cNvPr id="20" name="s7-text-19">
            <a:extLst xmlns:a="http://schemas.openxmlformats.org/drawingml/2006/main">
              <a:ext uri="{FF2B5EF4-FFF2-40B4-BE49-F238E27FC236}">
                <a16:creationId xmlns:a16="http://schemas.microsoft.com/office/drawing/2014/main" id="{ED44711F-7EAF-4E8E-BFF8-F00A9E68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57510"/>
            <a:ext cx="43815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Não tente puxar a peça ou o filamento.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6B2C8-5C16-4956-9C14-7279B37C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22" name="s7-text-20">
            <a:extLst xmlns:a="http://schemas.openxmlformats.org/drawingml/2006/main">
              <a:ext uri="{FF2B5EF4-FFF2-40B4-BE49-F238E27FC236}">
                <a16:creationId xmlns:a16="http://schemas.microsoft.com/office/drawing/2014/main" id="{79A8ADA2-4FB4-4B43-9C37-4B57BA1C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81675"/>
            <a:ext cx="10563225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Nesta aula, somente o professor opera a impressora.</a:t>
            </a:r>
          </a:p>
        </p:txBody>
      </p:sp>
    </p:spTree>
    <p:extLst>
      <p:ext uri="{BB962C8B-B14F-4D97-AF65-F5344CB8AC3E}">
        <p14:creationId xmlns:p14="http://schemas.microsoft.com/office/powerpoint/2010/main" val="9166121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8-text-1">
            <a:extLst xmlns:a="http://schemas.openxmlformats.org/drawingml/2006/main">
              <a:ext uri="{FF2B5EF4-FFF2-40B4-BE49-F238E27FC236}">
                <a16:creationId xmlns:a16="http://schemas.microsoft.com/office/drawing/2014/main" id="{49FCDC53-20AD-4853-BAD6-00F13CBC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O que você faria nesta situação?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571FC-8CD1-43F1-80E0-C237D509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8-text-2">
            <a:extLst xmlns:a="http://schemas.openxmlformats.org/drawingml/2006/main">
              <a:ext uri="{FF2B5EF4-FFF2-40B4-BE49-F238E27FC236}">
                <a16:creationId xmlns:a16="http://schemas.microsoft.com/office/drawing/2014/main" id="{FFD44ED4-B894-4639-B6C7-2034BC87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Atividade de segurança | 10 min</a:t>
            </a:r>
          </a:p>
        </p:txBody>
      </p:sp>
      <p:sp>
        <p:nvSpPr>
          <p:cNvPr id="4" name="s8-text-3">
            <a:extLst xmlns:a="http://schemas.openxmlformats.org/drawingml/2006/main">
              <a:ext uri="{FF2B5EF4-FFF2-40B4-BE49-F238E27FC236}">
                <a16:creationId xmlns:a16="http://schemas.microsoft.com/office/drawing/2014/main" id="{2E8E96EA-468F-4ABB-8E7D-BD1AE804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s8-text-4">
            <a:extLst xmlns:a="http://schemas.openxmlformats.org/drawingml/2006/main">
              <a:ext uri="{FF2B5EF4-FFF2-40B4-BE49-F238E27FC236}">
                <a16:creationId xmlns:a16="http://schemas.microsoft.com/office/drawing/2014/main" id="{3320C214-1923-412C-A2DB-B0DEE354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s8-text-5">
            <a:extLst xmlns:a="http://schemas.openxmlformats.org/drawingml/2006/main">
              <a:ext uri="{FF2B5EF4-FFF2-40B4-BE49-F238E27FC236}">
                <a16:creationId xmlns:a16="http://schemas.microsoft.com/office/drawing/2014/main" id="{E2449887-10CE-4F57-9686-B38B68A5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43100"/>
            <a:ext cx="101346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A impressão terminou. Posso pegar a peça?</a:t>
            </a:r>
          </a:p>
        </p:txBody>
      </p:sp>
      <p:sp>
        <p:nvSpPr>
          <p:cNvPr id="7" name="s8-text-6">
            <a:extLst xmlns:a="http://schemas.openxmlformats.org/drawingml/2006/main">
              <a:ext uri="{FF2B5EF4-FFF2-40B4-BE49-F238E27FC236}">
                <a16:creationId xmlns:a16="http://schemas.microsoft.com/office/drawing/2014/main" id="{246D6123-ED95-4596-AB59-CF24C661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101346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O visor ainda mostra bico e mesa quentes.</a:t>
            </a:r>
          </a:p>
        </p:txBody>
      </p:sp>
      <p:sp>
        <p:nvSpPr>
          <p:cNvPr id="8" name="s8-text-7">
            <a:extLst xmlns:a="http://schemas.openxmlformats.org/drawingml/2006/main">
              <a:ext uri="{FF2B5EF4-FFF2-40B4-BE49-F238E27FC236}">
                <a16:creationId xmlns:a16="http://schemas.microsoft.com/office/drawing/2014/main" id="{A69EA608-5EB5-4EC2-B401-079377C8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" name="s8-text-8">
            <a:extLst xmlns:a="http://schemas.openxmlformats.org/drawingml/2006/main">
              <a:ext uri="{FF2B5EF4-FFF2-40B4-BE49-F238E27FC236}">
                <a16:creationId xmlns:a16="http://schemas.microsoft.com/office/drawing/2014/main" id="{BE7ECF4E-33B7-4D79-A053-058243D1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71825"/>
            <a:ext cx="101346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Uma ponta da peça se soltou. Posso segurar?</a:t>
            </a:r>
          </a:p>
        </p:txBody>
      </p:sp>
      <p:sp>
        <p:nvSpPr>
          <p:cNvPr id="10" name="s8-text-9">
            <a:extLst xmlns:a="http://schemas.openxmlformats.org/drawingml/2006/main">
              <a:ext uri="{FF2B5EF4-FFF2-40B4-BE49-F238E27FC236}">
                <a16:creationId xmlns:a16="http://schemas.microsoft.com/office/drawing/2014/main" id="{7AF8739D-1FCB-4EBD-ACF2-E3F2798C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101346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A máquina continua se movimentando.</a:t>
            </a:r>
          </a:p>
        </p:txBody>
      </p:sp>
      <p:sp>
        <p:nvSpPr>
          <p:cNvPr id="11" name="s8-text-10">
            <a:extLst xmlns:a="http://schemas.openxmlformats.org/drawingml/2006/main">
              <a:ext uri="{FF2B5EF4-FFF2-40B4-BE49-F238E27FC236}">
                <a16:creationId xmlns:a16="http://schemas.microsoft.com/office/drawing/2014/main" id="{5AB668DF-03D2-454D-A358-65B650C1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" name="s8-text-11">
            <a:extLst xmlns:a="http://schemas.openxmlformats.org/drawingml/2006/main">
              <a:ext uri="{FF2B5EF4-FFF2-40B4-BE49-F238E27FC236}">
                <a16:creationId xmlns:a16="http://schemas.microsoft.com/office/drawing/2014/main" id="{F4D3A16C-7677-4AF2-A259-7CBDC46C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00550"/>
            <a:ext cx="101346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A máquina é fechada. Posso ignorar a ventilação?</a:t>
            </a:r>
          </a:p>
        </p:txBody>
      </p:sp>
      <p:sp>
        <p:nvSpPr>
          <p:cNvPr id="13" name="s8-text-12">
            <a:extLst xmlns:a="http://schemas.openxmlformats.org/drawingml/2006/main">
              <a:ext uri="{FF2B5EF4-FFF2-40B4-BE49-F238E27FC236}">
                <a16:creationId xmlns:a16="http://schemas.microsoft.com/office/drawing/2014/main" id="{1ED239F9-D774-4F84-954B-AB330DED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101346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O gabinete e o filtro dispensam outros cuidados?</a:t>
            </a:r>
          </a:p>
        </p:txBody>
      </p:sp>
    </p:spTree>
    <p:extLst>
      <p:ext uri="{BB962C8B-B14F-4D97-AF65-F5344CB8AC3E}">
        <p14:creationId xmlns:p14="http://schemas.microsoft.com/office/powerpoint/2010/main" val="16415232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9-text-1">
            <a:extLst xmlns:a="http://schemas.openxmlformats.org/drawingml/2006/main">
              <a:ext uri="{FF2B5EF4-FFF2-40B4-BE49-F238E27FC236}">
                <a16:creationId xmlns:a16="http://schemas.microsoft.com/office/drawing/2014/main" id="{584D55E9-EC93-406F-A70A-329E040B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Modelar, fatiar e imprimir são tarefas diferentes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235E8-EFBD-4C6E-B038-70B60E4A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9-text-2">
            <a:extLst xmlns:a="http://schemas.openxmlformats.org/drawingml/2006/main">
              <a:ext uri="{FF2B5EF4-FFF2-40B4-BE49-F238E27FC236}">
                <a16:creationId xmlns:a16="http://schemas.microsoft.com/office/drawing/2014/main" id="{33478374-2CDD-428B-AABA-FE179291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Processo | 55-80 min</a:t>
            </a:r>
          </a:p>
        </p:txBody>
      </p:sp>
      <p:sp>
        <p:nvSpPr>
          <p:cNvPr id="4" name="s9-text-3">
            <a:extLst xmlns:a="http://schemas.openxmlformats.org/drawingml/2006/main">
              <a:ext uri="{FF2B5EF4-FFF2-40B4-BE49-F238E27FC236}">
                <a16:creationId xmlns:a16="http://schemas.microsoft.com/office/drawing/2014/main" id="{60B8FD0F-8238-4137-B5D0-F668D15D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s9-text-4">
            <a:extLst xmlns:a="http://schemas.openxmlformats.org/drawingml/2006/main">
              <a:ext uri="{FF2B5EF4-FFF2-40B4-BE49-F238E27FC236}">
                <a16:creationId xmlns:a16="http://schemas.microsoft.com/office/drawing/2014/main" id="{00FDE040-600B-40D6-BCC1-51F2BDC5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571750" cy="843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9-text-5">
            <a:extLst xmlns:a="http://schemas.openxmlformats.org/drawingml/2006/main">
              <a:ext uri="{FF2B5EF4-FFF2-40B4-BE49-F238E27FC236}">
                <a16:creationId xmlns:a16="http://schemas.microsoft.com/office/drawing/2014/main" id="{6E3DAEA4-B2D5-42FB-BA83-7CC29BA2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3048000" cy="421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Modelar</a:t>
            </a:r>
          </a:p>
        </p:txBody>
      </p:sp>
      <p:sp>
        <p:nvSpPr>
          <p:cNvPr id="7" name="s9-text-6">
            <a:extLst xmlns:a="http://schemas.openxmlformats.org/drawingml/2006/main">
              <a:ext uri="{FF2B5EF4-FFF2-40B4-BE49-F238E27FC236}">
                <a16:creationId xmlns:a16="http://schemas.microsoft.com/office/drawing/2014/main" id="{78C1337F-3C19-4BE6-B5F7-94C15B22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143250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Definir forma,</a:t>
            </a:r>
          </a:p>
        </p:txBody>
      </p:sp>
      <p:sp>
        <p:nvSpPr>
          <p:cNvPr id="8" name="s9-text-7">
            <a:extLst xmlns:a="http://schemas.openxmlformats.org/drawingml/2006/main">
              <a:ext uri="{FF2B5EF4-FFF2-40B4-BE49-F238E27FC236}">
                <a16:creationId xmlns:a16="http://schemas.microsoft.com/office/drawing/2014/main" id="{68B79449-D6F0-4A77-84D4-82B41B6F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632"/>
            <a:ext cx="3143250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medidas e função.</a:t>
            </a:r>
          </a:p>
        </p:txBody>
      </p:sp>
      <p:sp>
        <p:nvSpPr>
          <p:cNvPr id="9" name="s9-text-8">
            <a:extLst xmlns:a="http://schemas.openxmlformats.org/drawingml/2006/main">
              <a:ext uri="{FF2B5EF4-FFF2-40B4-BE49-F238E27FC236}">
                <a16:creationId xmlns:a16="http://schemas.microsoft.com/office/drawing/2014/main" id="{3E6DE1AF-CE1A-4E7F-9110-6E926257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2571750" cy="843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s9-text-9">
            <a:extLst xmlns:a="http://schemas.openxmlformats.org/drawingml/2006/main">
              <a:ext uri="{FF2B5EF4-FFF2-40B4-BE49-F238E27FC236}">
                <a16:creationId xmlns:a16="http://schemas.microsoft.com/office/drawing/2014/main" id="{EB15E5E2-22FF-41BD-B88E-B4AA7434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24175"/>
            <a:ext cx="3048000" cy="421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Fatiar</a:t>
            </a:r>
          </a:p>
        </p:txBody>
      </p:sp>
      <p:sp>
        <p:nvSpPr>
          <p:cNvPr id="11" name="s9-text-10">
            <a:extLst xmlns:a="http://schemas.openxmlformats.org/drawingml/2006/main">
              <a:ext uri="{FF2B5EF4-FFF2-40B4-BE49-F238E27FC236}">
                <a16:creationId xmlns:a16="http://schemas.microsoft.com/office/drawing/2014/main" id="{4E84EFE7-3C0B-47AD-A022-A0EA2F66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71875"/>
            <a:ext cx="3143250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Planejar camadas</a:t>
            </a:r>
          </a:p>
        </p:txBody>
      </p:sp>
      <p:sp>
        <p:nvSpPr>
          <p:cNvPr id="12" name="s9-text-11">
            <a:extLst xmlns:a="http://schemas.openxmlformats.org/drawingml/2006/main">
              <a:ext uri="{FF2B5EF4-FFF2-40B4-BE49-F238E27FC236}">
                <a16:creationId xmlns:a16="http://schemas.microsoft.com/office/drawing/2014/main" id="{766C8F0E-9EDF-4CF0-9446-A3898E7A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11632"/>
            <a:ext cx="3143250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e trajetórias.</a:t>
            </a:r>
          </a:p>
        </p:txBody>
      </p:sp>
      <p:sp>
        <p:nvSpPr>
          <p:cNvPr id="13" name="s9-text-12">
            <a:extLst xmlns:a="http://schemas.openxmlformats.org/drawingml/2006/main">
              <a:ext uri="{FF2B5EF4-FFF2-40B4-BE49-F238E27FC236}">
                <a16:creationId xmlns:a16="http://schemas.microsoft.com/office/drawing/2014/main" id="{55AD0B28-3E16-448E-8A18-53CCA776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924050"/>
            <a:ext cx="2571750" cy="843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s9-text-13">
            <a:extLst xmlns:a="http://schemas.openxmlformats.org/drawingml/2006/main">
              <a:ext uri="{FF2B5EF4-FFF2-40B4-BE49-F238E27FC236}">
                <a16:creationId xmlns:a16="http://schemas.microsoft.com/office/drawing/2014/main" id="{C032EC81-6091-469A-A71B-28ECBD62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924175"/>
            <a:ext cx="3048000" cy="421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Imprimir</a:t>
            </a:r>
          </a:p>
        </p:txBody>
      </p:sp>
      <p:sp>
        <p:nvSpPr>
          <p:cNvPr id="15" name="s9-text-14">
            <a:extLst xmlns:a="http://schemas.openxmlformats.org/drawingml/2006/main">
              <a:ext uri="{FF2B5EF4-FFF2-40B4-BE49-F238E27FC236}">
                <a16:creationId xmlns:a16="http://schemas.microsoft.com/office/drawing/2014/main" id="{7222E6F7-9E31-4D2C-8491-78FF801F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571875"/>
            <a:ext cx="3143250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Depositar material</a:t>
            </a:r>
          </a:p>
        </p:txBody>
      </p:sp>
      <p:sp>
        <p:nvSpPr>
          <p:cNvPr id="16" name="s9-text-15">
            <a:extLst xmlns:a="http://schemas.openxmlformats.org/drawingml/2006/main">
              <a:ext uri="{FF2B5EF4-FFF2-40B4-BE49-F238E27FC236}">
                <a16:creationId xmlns:a16="http://schemas.microsoft.com/office/drawing/2014/main" id="{5A432687-94FD-453F-A0D1-BCA44BF5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911632"/>
            <a:ext cx="3143250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camada por camada.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69FE1-2CB4-4334-829D-2CC6B83B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18" name="s9-text-16">
            <a:extLst xmlns:a="http://schemas.openxmlformats.org/drawingml/2006/main">
              <a:ext uri="{FF2B5EF4-FFF2-40B4-BE49-F238E27FC236}">
                <a16:creationId xmlns:a16="http://schemas.microsoft.com/office/drawing/2014/main" id="{950DF746-9E41-47C4-904B-09CD96AB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81675"/>
            <a:ext cx="10563225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Na K1C, um filamento aquecido é depositado em camadas: FDM/FFF.</a:t>
            </a:r>
          </a:p>
        </p:txBody>
      </p:sp>
    </p:spTree>
    <p:extLst>
      <p:ext uri="{BB962C8B-B14F-4D97-AF65-F5344CB8AC3E}">
        <p14:creationId xmlns:p14="http://schemas.microsoft.com/office/powerpoint/2010/main" val="1280411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10-text-1">
            <a:extLst xmlns:a="http://schemas.openxmlformats.org/drawingml/2006/main">
              <a:ext uri="{FF2B5EF4-FFF2-40B4-BE49-F238E27FC236}">
                <a16:creationId xmlns:a16="http://schemas.microsoft.com/office/drawing/2014/main" id="{D245F0DA-EE6A-4E68-B9B1-D1A10BE3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O caminho do arquivo até a peça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BBEF8-49FA-4DD3-82CB-6D21BEE4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10-text-2">
            <a:extLst xmlns:a="http://schemas.openxmlformats.org/drawingml/2006/main">
              <a:ext uri="{FF2B5EF4-FFF2-40B4-BE49-F238E27FC236}">
                <a16:creationId xmlns:a16="http://schemas.microsoft.com/office/drawing/2014/main" id="{BEA0BB35-50A8-4F90-BE3A-98765A48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Processo | 55-80 min</a:t>
            </a:r>
          </a:p>
        </p:txBody>
      </p:sp>
      <p:sp>
        <p:nvSpPr>
          <p:cNvPr id="4" name="s10-text-3">
            <a:extLst xmlns:a="http://schemas.openxmlformats.org/drawingml/2006/main">
              <a:ext uri="{FF2B5EF4-FFF2-40B4-BE49-F238E27FC236}">
                <a16:creationId xmlns:a16="http://schemas.microsoft.com/office/drawing/2014/main" id="{55C0C321-10A1-41F1-9508-8E590EDD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s10-text-4">
            <a:extLst xmlns:a="http://schemas.openxmlformats.org/drawingml/2006/main">
              <a:ext uri="{FF2B5EF4-FFF2-40B4-BE49-F238E27FC236}">
                <a16:creationId xmlns:a16="http://schemas.microsoft.com/office/drawing/2014/main" id="{1430ACC9-5C7A-442D-A03C-DAAC3F09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1762125" cy="726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10-text-5">
            <a:extLst xmlns:a="http://schemas.openxmlformats.org/drawingml/2006/main">
              <a:ext uri="{FF2B5EF4-FFF2-40B4-BE49-F238E27FC236}">
                <a16:creationId xmlns:a16="http://schemas.microsoft.com/office/drawing/2014/main" id="{CC99C6F0-2D75-4E31-A5E6-A99E84A1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9431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Ideia e</a:t>
            </a:r>
          </a:p>
        </p:txBody>
      </p:sp>
      <p:sp>
        <p:nvSpPr>
          <p:cNvPr id="7" name="s10-text-6">
            <a:extLst xmlns:a="http://schemas.openxmlformats.org/drawingml/2006/main">
              <a:ext uri="{FF2B5EF4-FFF2-40B4-BE49-F238E27FC236}">
                <a16:creationId xmlns:a16="http://schemas.microsoft.com/office/drawing/2014/main" id="{4F035F03-70E1-41B4-9E67-F03B61FE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3248"/>
            <a:ext cx="19431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medidas</a:t>
            </a:r>
          </a:p>
        </p:txBody>
      </p:sp>
      <p:sp>
        <p:nvSpPr>
          <p:cNvPr id="8" name="s10-text-7">
            <a:extLst xmlns:a="http://schemas.openxmlformats.org/drawingml/2006/main">
              <a:ext uri="{FF2B5EF4-FFF2-40B4-BE49-F238E27FC236}">
                <a16:creationId xmlns:a16="http://schemas.microsoft.com/office/drawing/2014/main" id="{EF259503-A837-4D71-A628-7B781DB4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943100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Esboço em papel</a:t>
            </a:r>
          </a:p>
        </p:txBody>
      </p:sp>
      <p:sp>
        <p:nvSpPr>
          <p:cNvPr id="9" name="s10-text-8">
            <a:extLst xmlns:a="http://schemas.openxmlformats.org/drawingml/2006/main">
              <a:ext uri="{FF2B5EF4-FFF2-40B4-BE49-F238E27FC236}">
                <a16:creationId xmlns:a16="http://schemas.microsoft.com/office/drawing/2014/main" id="{BF78A859-A01B-4900-AAC0-7F6594A9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933575"/>
            <a:ext cx="1762125" cy="726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10-text-9">
            <a:extLst xmlns:a="http://schemas.openxmlformats.org/drawingml/2006/main">
              <a:ext uri="{FF2B5EF4-FFF2-40B4-BE49-F238E27FC236}">
                <a16:creationId xmlns:a16="http://schemas.microsoft.com/office/drawing/2014/main" id="{C36FCFA0-0399-4479-A1C3-EFCE78FD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771775"/>
            <a:ext cx="19431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Modelo 3D</a:t>
            </a:r>
          </a:p>
        </p:txBody>
      </p:sp>
      <p:sp>
        <p:nvSpPr>
          <p:cNvPr id="11" name="s10-text-10">
            <a:extLst xmlns:a="http://schemas.openxmlformats.org/drawingml/2006/main">
              <a:ext uri="{FF2B5EF4-FFF2-40B4-BE49-F238E27FC236}">
                <a16:creationId xmlns:a16="http://schemas.microsoft.com/office/drawing/2014/main" id="{F0650537-9620-449D-B28F-4C8A1B05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705225"/>
            <a:ext cx="1943100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Tinkercad / CAD</a:t>
            </a:r>
          </a:p>
        </p:txBody>
      </p:sp>
      <p:sp>
        <p:nvSpPr>
          <p:cNvPr id="12" name="s10-text-11">
            <a:extLst xmlns:a="http://schemas.openxmlformats.org/drawingml/2006/main">
              <a:ext uri="{FF2B5EF4-FFF2-40B4-BE49-F238E27FC236}">
                <a16:creationId xmlns:a16="http://schemas.microsoft.com/office/drawing/2014/main" id="{FD6028BE-0FD3-49E4-9CE4-559FF9C7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33575"/>
            <a:ext cx="1762125" cy="726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s10-text-12">
            <a:extLst xmlns:a="http://schemas.openxmlformats.org/drawingml/2006/main">
              <a:ext uri="{FF2B5EF4-FFF2-40B4-BE49-F238E27FC236}">
                <a16:creationId xmlns:a16="http://schemas.microsoft.com/office/drawing/2014/main" id="{FBB13D29-17B6-4B3A-B2EA-BC547DBB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71775"/>
            <a:ext cx="19431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Arquivo do</a:t>
            </a:r>
          </a:p>
        </p:txBody>
      </p:sp>
      <p:sp>
        <p:nvSpPr>
          <p:cNvPr id="14" name="s10-text-13">
            <a:extLst xmlns:a="http://schemas.openxmlformats.org/drawingml/2006/main">
              <a:ext uri="{FF2B5EF4-FFF2-40B4-BE49-F238E27FC236}">
                <a16:creationId xmlns:a16="http://schemas.microsoft.com/office/drawing/2014/main" id="{956619D6-E794-4039-868D-7865DA5B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23248"/>
            <a:ext cx="19431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modelo</a:t>
            </a:r>
          </a:p>
        </p:txBody>
      </p:sp>
      <p:sp>
        <p:nvSpPr>
          <p:cNvPr id="15" name="s10-text-14">
            <a:extLst xmlns:a="http://schemas.openxmlformats.org/drawingml/2006/main">
              <a:ext uri="{FF2B5EF4-FFF2-40B4-BE49-F238E27FC236}">
                <a16:creationId xmlns:a16="http://schemas.microsoft.com/office/drawing/2014/main" id="{366A6029-007F-45B8-9477-A64CDDEB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05225"/>
            <a:ext cx="1943100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STL / 3MF</a:t>
            </a:r>
          </a:p>
        </p:txBody>
      </p:sp>
      <p:sp>
        <p:nvSpPr>
          <p:cNvPr id="16" name="s10-text-15">
            <a:extLst xmlns:a="http://schemas.openxmlformats.org/drawingml/2006/main">
              <a:ext uri="{FF2B5EF4-FFF2-40B4-BE49-F238E27FC236}">
                <a16:creationId xmlns:a16="http://schemas.microsoft.com/office/drawing/2014/main" id="{D3F7D756-E52F-4A2D-8CAD-F88EC17E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33575"/>
            <a:ext cx="1762125" cy="726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s10-text-16">
            <a:extLst xmlns:a="http://schemas.openxmlformats.org/drawingml/2006/main">
              <a:ext uri="{FF2B5EF4-FFF2-40B4-BE49-F238E27FC236}">
                <a16:creationId xmlns:a16="http://schemas.microsoft.com/office/drawing/2014/main" id="{2AB0D155-CB74-43E0-BDE0-9191CC8D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71775"/>
            <a:ext cx="19431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Fatiador</a:t>
            </a:r>
          </a:p>
        </p:txBody>
      </p:sp>
      <p:sp>
        <p:nvSpPr>
          <p:cNvPr id="18" name="s10-text-17">
            <a:extLst xmlns:a="http://schemas.openxmlformats.org/drawingml/2006/main">
              <a:ext uri="{FF2B5EF4-FFF2-40B4-BE49-F238E27FC236}">
                <a16:creationId xmlns:a16="http://schemas.microsoft.com/office/drawing/2014/main" id="{56C1B895-2F0B-49F6-83E3-54589596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705225"/>
            <a:ext cx="1943100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Creality Print</a:t>
            </a:r>
          </a:p>
        </p:txBody>
      </p:sp>
      <p:sp>
        <p:nvSpPr>
          <p:cNvPr id="19" name="s10-text-18">
            <a:extLst xmlns:a="http://schemas.openxmlformats.org/drawingml/2006/main">
              <a:ext uri="{FF2B5EF4-FFF2-40B4-BE49-F238E27FC236}">
                <a16:creationId xmlns:a16="http://schemas.microsoft.com/office/drawing/2014/main" id="{99A94266-3927-4320-8ED2-E497E2A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33575"/>
            <a:ext cx="1762125" cy="726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s10-text-19">
            <a:extLst xmlns:a="http://schemas.openxmlformats.org/drawingml/2006/main">
              <a:ext uri="{FF2B5EF4-FFF2-40B4-BE49-F238E27FC236}">
                <a16:creationId xmlns:a16="http://schemas.microsoft.com/office/drawing/2014/main" id="{391C6DC0-D9D7-4BC0-8BF9-9DD71C98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71775"/>
            <a:ext cx="19431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Impressora</a:t>
            </a:r>
          </a:p>
        </p:txBody>
      </p:sp>
      <p:sp>
        <p:nvSpPr>
          <p:cNvPr id="21" name="s10-text-20">
            <a:extLst xmlns:a="http://schemas.openxmlformats.org/drawingml/2006/main">
              <a:ext uri="{FF2B5EF4-FFF2-40B4-BE49-F238E27FC236}">
                <a16:creationId xmlns:a16="http://schemas.microsoft.com/office/drawing/2014/main" id="{835C4766-6BB4-4927-8FBE-B0897868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05225"/>
            <a:ext cx="1943100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Recebe G-code</a:t>
            </a:r>
          </a:p>
        </p:txBody>
      </p:sp>
      <p:sp>
        <p:nvSpPr>
          <p:cNvPr id="22" name="s10-text-21">
            <a:extLst xmlns:a="http://schemas.openxmlformats.org/drawingml/2006/main">
              <a:ext uri="{FF2B5EF4-FFF2-40B4-BE49-F238E27FC236}">
                <a16:creationId xmlns:a16="http://schemas.microsoft.com/office/drawing/2014/main" id="{3E1E6D1F-CFBE-4758-A488-A43965EE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98119"/>
            <a:ext cx="1943100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compatível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5DE11-4E31-4524-BEB7-D048D6E1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0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24" name="s10-text-22">
            <a:extLst xmlns:a="http://schemas.openxmlformats.org/drawingml/2006/main">
              <a:ext uri="{FF2B5EF4-FFF2-40B4-BE49-F238E27FC236}">
                <a16:creationId xmlns:a16="http://schemas.microsoft.com/office/drawing/2014/main" id="{7366339A-1E7E-4DB4-A9E1-E9B6187B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810875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Antes de enviar: conferir dimensões em mm, máquina, material e prévia.</a:t>
            </a:r>
          </a:p>
        </p:txBody>
      </p:sp>
      <p:sp>
        <p:nvSpPr>
          <p:cNvPr id="25" name="s10-text-23">
            <a:extLst xmlns:a="http://schemas.openxmlformats.org/drawingml/2006/main">
              <a:ext uri="{FF2B5EF4-FFF2-40B4-BE49-F238E27FC236}">
                <a16:creationId xmlns:a16="http://schemas.microsoft.com/office/drawing/2014/main" id="{66DDEAC1-AB32-4570-8FFD-87E2317A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858500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O arquivo do modelo não é a mesma coisa que o arquivo de impressão.</a:t>
            </a:r>
          </a:p>
        </p:txBody>
      </p:sp>
    </p:spTree>
    <p:extLst>
      <p:ext uri="{BB962C8B-B14F-4D97-AF65-F5344CB8AC3E}">
        <p14:creationId xmlns:p14="http://schemas.microsoft.com/office/powerpoint/2010/main" val="4968706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11-text-1">
            <a:extLst xmlns:a="http://schemas.openxmlformats.org/drawingml/2006/main">
              <a:ext uri="{FF2B5EF4-FFF2-40B4-BE49-F238E27FC236}">
                <a16:creationId xmlns:a16="http://schemas.microsoft.com/office/drawing/2014/main" id="{68707B3E-1175-4FD5-AB25-EECBE3E0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Altura de camada: detalhe e tempo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C9CCB-B8A8-4808-8B78-5AD083C0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11-text-2">
            <a:extLst xmlns:a="http://schemas.openxmlformats.org/drawingml/2006/main">
              <a:ext uri="{FF2B5EF4-FFF2-40B4-BE49-F238E27FC236}">
                <a16:creationId xmlns:a16="http://schemas.microsoft.com/office/drawing/2014/main" id="{DC274F5E-A137-42D3-97F6-7EAE1B13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Processo | 55-80 min</a:t>
            </a:r>
          </a:p>
        </p:txBody>
      </p:sp>
      <p:sp>
        <p:nvSpPr>
          <p:cNvPr id="4" name="s11-text-3">
            <a:extLst xmlns:a="http://schemas.openxmlformats.org/drawingml/2006/main">
              <a:ext uri="{FF2B5EF4-FFF2-40B4-BE49-F238E27FC236}">
                <a16:creationId xmlns:a16="http://schemas.microsoft.com/office/drawing/2014/main" id="{8C8F6DF2-6283-4122-8D38-D56550C4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952b6f0884917"/>
          <a:stretch xmlns:a="http://schemas.openxmlformats.org/drawingml/2006/main"/>
        </p:blipFill>
        <p:spPr>
          <a:xfrm xmlns:a="http://schemas.openxmlformats.org/drawingml/2006/main">
            <a:off x="1862713" y="1704975"/>
            <a:ext cx="8447524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s11-text-4">
            <a:extLst xmlns:a="http://schemas.openxmlformats.org/drawingml/2006/main">
              <a:ext uri="{FF2B5EF4-FFF2-40B4-BE49-F238E27FC236}">
                <a16:creationId xmlns:a16="http://schemas.microsoft.com/office/drawing/2014/main" id="{7B6F2D57-1174-4D83-B0DB-03346621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43500"/>
            <a:ext cx="238125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0,10 mm</a:t>
            </a:r>
          </a:p>
        </p:txBody>
      </p:sp>
      <p:sp>
        <p:nvSpPr>
          <p:cNvPr id="7" name="s11-text-5">
            <a:extLst xmlns:a="http://schemas.openxmlformats.org/drawingml/2006/main">
              <a:ext uri="{FF2B5EF4-FFF2-40B4-BE49-F238E27FC236}">
                <a16:creationId xmlns:a16="http://schemas.microsoft.com/office/drawing/2014/main" id="{C2DCA0D8-CF78-44C2-AE44-C2B9EAA4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143500"/>
            <a:ext cx="238125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0,20 mm</a:t>
            </a:r>
          </a:p>
        </p:txBody>
      </p:sp>
      <p:sp>
        <p:nvSpPr>
          <p:cNvPr id="8" name="s11-text-6">
            <a:extLst xmlns:a="http://schemas.openxmlformats.org/drawingml/2006/main">
              <a:ext uri="{FF2B5EF4-FFF2-40B4-BE49-F238E27FC236}">
                <a16:creationId xmlns:a16="http://schemas.microsoft.com/office/drawing/2014/main" id="{9792D413-85A1-4171-A080-B4BAEE10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38125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0,30 mm</a:t>
            </a:r>
          </a:p>
        </p:txBody>
      </p:sp>
      <p:sp>
        <p:nvSpPr>
          <p:cNvPr id="9" name="s11-text-7">
            <a:extLst xmlns:a="http://schemas.openxmlformats.org/drawingml/2006/main">
              <a:ext uri="{FF2B5EF4-FFF2-40B4-BE49-F238E27FC236}">
                <a16:creationId xmlns:a16="http://schemas.microsoft.com/office/drawing/2014/main" id="{E5C199A0-249B-4EF4-A63A-B2F390E9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858500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Camadas mais finas: mais detalhe vertical, geralmente mais tempo.</a:t>
            </a:r>
          </a:p>
        </p:txBody>
      </p:sp>
      <p:sp>
        <p:nvSpPr>
          <p:cNvPr id="10" name="s11-text-8">
            <a:extLst xmlns:a="http://schemas.openxmlformats.org/drawingml/2006/main">
              <a:ext uri="{FF2B5EF4-FFF2-40B4-BE49-F238E27FC236}">
                <a16:creationId xmlns:a16="http://schemas.microsoft.com/office/drawing/2014/main" id="{7B13519C-B407-4B46-8BA0-A17B31F5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763250" cy="199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Imagem: Prusa. Tempos do exemplo original; não são estimativas da K1C.</a:t>
            </a:r>
          </a:p>
        </p:txBody>
      </p:sp>
    </p:spTree>
    <p:extLst>
      <p:ext uri="{BB962C8B-B14F-4D97-AF65-F5344CB8AC3E}">
        <p14:creationId xmlns:p14="http://schemas.microsoft.com/office/powerpoint/2010/main" val="9569132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12-text-1">
            <a:extLst xmlns:a="http://schemas.openxmlformats.org/drawingml/2006/main">
              <a:ext uri="{FF2B5EF4-FFF2-40B4-BE49-F238E27FC236}">
                <a16:creationId xmlns:a16="http://schemas.microsoft.com/office/drawing/2014/main" id="{B37AB1D0-FE00-48A1-BBAC-30F32B94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Paredes e preenchimento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74B97-BC4B-48AD-BD20-61F68D7C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12-text-2">
            <a:extLst xmlns:a="http://schemas.openxmlformats.org/drawingml/2006/main">
              <a:ext uri="{FF2B5EF4-FFF2-40B4-BE49-F238E27FC236}">
                <a16:creationId xmlns:a16="http://schemas.microsoft.com/office/drawing/2014/main" id="{0E58AC79-8722-44DF-9F84-13FA836A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Processo | 55-80 min</a:t>
            </a:r>
          </a:p>
        </p:txBody>
      </p:sp>
      <p:sp>
        <p:nvSpPr>
          <p:cNvPr id="4" name="s12-text-3">
            <a:extLst xmlns:a="http://schemas.openxmlformats.org/drawingml/2006/main">
              <a:ext uri="{FF2B5EF4-FFF2-40B4-BE49-F238E27FC236}">
                <a16:creationId xmlns:a16="http://schemas.microsoft.com/office/drawing/2014/main" id="{1D4B7F9B-B857-48C6-96D5-06253EBD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ec8cce21a48ca"/>
          <a:stretch xmlns:a="http://schemas.openxmlformats.org/drawingml/2006/main"/>
        </p:blipFill>
        <p:spPr>
          <a:xfrm xmlns:a="http://schemas.openxmlformats.org/drawingml/2006/main">
            <a:off x="609600" y="1823564"/>
            <a:ext cx="10953750" cy="2953698"/>
          </a:xfrm>
          <a:prstGeom xmlns:a="http://schemas.openxmlformats.org/drawingml/2006/main" prst="rect">
            <a:avLst/>
          </a:prstGeom>
        </p:spPr>
      </p:pic>
      <p:sp>
        <p:nvSpPr>
          <p:cNvPr id="6" name="s12-text-4">
            <a:extLst xmlns:a="http://schemas.openxmlformats.org/drawingml/2006/main">
              <a:ext uri="{FF2B5EF4-FFF2-40B4-BE49-F238E27FC236}">
                <a16:creationId xmlns:a16="http://schemas.microsoft.com/office/drawing/2014/main" id="{19113E7D-89C3-4CE1-9D7F-C33829AE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476750" cy="37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Paredes</a:t>
            </a:r>
          </a:p>
        </p:txBody>
      </p:sp>
      <p:sp>
        <p:nvSpPr>
          <p:cNvPr id="7" name="s12-text-5">
            <a:extLst xmlns:a="http://schemas.openxmlformats.org/drawingml/2006/main">
              <a:ext uri="{FF2B5EF4-FFF2-40B4-BE49-F238E27FC236}">
                <a16:creationId xmlns:a16="http://schemas.microsoft.com/office/drawing/2014/main" id="{EF0026C2-A1F5-408E-A1EF-86E15E24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4838700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Contornos que formam a casca.</a:t>
            </a:r>
          </a:p>
        </p:txBody>
      </p:sp>
      <p:sp>
        <p:nvSpPr>
          <p:cNvPr id="8" name="s12-text-6">
            <a:extLst xmlns:a="http://schemas.openxmlformats.org/drawingml/2006/main">
              <a:ext uri="{FF2B5EF4-FFF2-40B4-BE49-F238E27FC236}">
                <a16:creationId xmlns:a16="http://schemas.microsoft.com/office/drawing/2014/main" id="{6FA226DC-BE10-46FB-A0A3-B41B230B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3500"/>
            <a:ext cx="4762500" cy="37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Preenchimento</a:t>
            </a:r>
          </a:p>
        </p:txBody>
      </p:sp>
      <p:sp>
        <p:nvSpPr>
          <p:cNvPr id="9" name="s12-text-7">
            <a:extLst xmlns:a="http://schemas.openxmlformats.org/drawingml/2006/main">
              <a:ext uri="{FF2B5EF4-FFF2-40B4-BE49-F238E27FC236}">
                <a16:creationId xmlns:a16="http://schemas.microsoft.com/office/drawing/2014/main" id="{B066A652-9B6D-46D5-BE31-8A1A02F3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72125"/>
            <a:ext cx="4981575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Estrutura interna, nem sempre maciça.</a:t>
            </a:r>
          </a:p>
        </p:txBody>
      </p:sp>
      <p:sp>
        <p:nvSpPr>
          <p:cNvPr id="10" name="s12-text-8">
            <a:extLst xmlns:a="http://schemas.openxmlformats.org/drawingml/2006/main">
              <a:ext uri="{FF2B5EF4-FFF2-40B4-BE49-F238E27FC236}">
                <a16:creationId xmlns:a16="http://schemas.microsoft.com/office/drawing/2014/main" id="{C1720BEB-358A-4964-BC60-17159A14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858500" cy="199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Imagem: Prusa. Os números indicam perímetros.</a:t>
            </a:r>
          </a:p>
        </p:txBody>
      </p:sp>
    </p:spTree>
    <p:extLst>
      <p:ext uri="{BB962C8B-B14F-4D97-AF65-F5344CB8AC3E}">
        <p14:creationId xmlns:p14="http://schemas.microsoft.com/office/powerpoint/2010/main" val="9251940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13-text-1">
            <a:extLst xmlns:a="http://schemas.openxmlformats.org/drawingml/2006/main">
              <a:ext uri="{FF2B5EF4-FFF2-40B4-BE49-F238E27FC236}">
                <a16:creationId xmlns:a16="http://schemas.microsoft.com/office/drawing/2014/main" id="{4E0A3F03-BF28-4ED5-8041-C274B36B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Suportes e orientação da peça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FB01A-0A9C-4379-B403-F6EE0F44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13-text-2">
            <a:extLst xmlns:a="http://schemas.openxmlformats.org/drawingml/2006/main">
              <a:ext uri="{FF2B5EF4-FFF2-40B4-BE49-F238E27FC236}">
                <a16:creationId xmlns:a16="http://schemas.microsoft.com/office/drawing/2014/main" id="{93DF2131-FB1A-47F3-AF9A-6C66A36C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Processo | 55-80 min</a:t>
            </a:r>
          </a:p>
        </p:txBody>
      </p:sp>
      <p:sp>
        <p:nvSpPr>
          <p:cNvPr id="4" name="s13-text-3">
            <a:extLst xmlns:a="http://schemas.openxmlformats.org/drawingml/2006/main">
              <a:ext uri="{FF2B5EF4-FFF2-40B4-BE49-F238E27FC236}">
                <a16:creationId xmlns:a16="http://schemas.microsoft.com/office/drawing/2014/main" id="{16E8D82B-6738-41B3-B171-00E06DD1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7b1f940ad4d4b"/>
          <a:stretch xmlns:a="http://schemas.openxmlformats.org/drawingml/2006/main"/>
        </p:blipFill>
        <p:spPr>
          <a:xfrm xmlns:a="http://schemas.openxmlformats.org/drawingml/2006/main">
            <a:off x="619034" y="1809750"/>
            <a:ext cx="6439082" cy="3676650"/>
          </a:xfrm>
          <a:prstGeom xmlns:a="http://schemas.openxmlformats.org/drawingml/2006/main" prst="rect">
            <a:avLst/>
          </a:prstGeom>
        </p:spPr>
      </p:pic>
      <p:sp>
        <p:nvSpPr>
          <p:cNvPr id="6" name="s13-text-4">
            <a:extLst xmlns:a="http://schemas.openxmlformats.org/drawingml/2006/main">
              <a:ext uri="{FF2B5EF4-FFF2-40B4-BE49-F238E27FC236}">
                <a16:creationId xmlns:a16="http://schemas.microsoft.com/office/drawing/2014/main" id="{3061B91E-0DF6-4991-933B-2D5AE6B0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38350"/>
            <a:ext cx="4019550" cy="456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O que sustenta</a:t>
            </a:r>
          </a:p>
        </p:txBody>
      </p:sp>
      <p:sp>
        <p:nvSpPr>
          <p:cNvPr id="7" name="s13-text-5">
            <a:extLst xmlns:a="http://schemas.openxmlformats.org/drawingml/2006/main">
              <a:ext uri="{FF2B5EF4-FFF2-40B4-BE49-F238E27FC236}">
                <a16:creationId xmlns:a16="http://schemas.microsoft.com/office/drawing/2014/main" id="{5C5A0A65-7FFF-4C20-A4F5-4DEB0F5D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95264"/>
            <a:ext cx="4019550" cy="456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essa região?</a:t>
            </a:r>
          </a:p>
        </p:txBody>
      </p:sp>
      <p:sp>
        <p:nvSpPr>
          <p:cNvPr id="8" name="s13-text-6">
            <a:extLst xmlns:a="http://schemas.openxmlformats.org/drawingml/2006/main">
              <a:ext uri="{FF2B5EF4-FFF2-40B4-BE49-F238E27FC236}">
                <a16:creationId xmlns:a16="http://schemas.microsoft.com/office/drawing/2014/main" id="{6AC3AFEB-DA88-4F93-89B0-5FA4FFE1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67075"/>
            <a:ext cx="4076700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Suportes sustentam regiões</a:t>
            </a:r>
          </a:p>
        </p:txBody>
      </p:sp>
      <p:sp>
        <p:nvSpPr>
          <p:cNvPr id="9" name="s13-text-7">
            <a:extLst xmlns:a="http://schemas.openxmlformats.org/drawingml/2006/main">
              <a:ext uri="{FF2B5EF4-FFF2-40B4-BE49-F238E27FC236}">
                <a16:creationId xmlns:a16="http://schemas.microsoft.com/office/drawing/2014/main" id="{41880AFC-4108-49E6-B89C-7D9C0155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83400"/>
            <a:ext cx="4076700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sem apoio suficiente.</a:t>
            </a:r>
          </a:p>
        </p:txBody>
      </p:sp>
      <p:sp>
        <p:nvSpPr>
          <p:cNvPr id="10" name="s13-text-8">
            <a:extLst xmlns:a="http://schemas.openxmlformats.org/drawingml/2006/main">
              <a:ext uri="{FF2B5EF4-FFF2-40B4-BE49-F238E27FC236}">
                <a16:creationId xmlns:a16="http://schemas.microsoft.com/office/drawing/2014/main" id="{8F9625F3-A1BF-401C-A15F-D8BAD33C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16051"/>
            <a:ext cx="4076700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A orientação pode reduzir</a:t>
            </a:r>
          </a:p>
        </p:txBody>
      </p:sp>
      <p:sp>
        <p:nvSpPr>
          <p:cNvPr id="11" name="s13-text-9">
            <a:extLst xmlns:a="http://schemas.openxmlformats.org/drawingml/2006/main">
              <a:ext uri="{FF2B5EF4-FFF2-40B4-BE49-F238E27FC236}">
                <a16:creationId xmlns:a16="http://schemas.microsoft.com/office/drawing/2014/main" id="{C94289AF-BB66-47F9-9215-4368BE12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32376"/>
            <a:ext cx="4076700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a quantidade necessária.</a:t>
            </a:r>
          </a:p>
        </p:txBody>
      </p:sp>
      <p:sp>
        <p:nvSpPr>
          <p:cNvPr id="12" name="s13-text-10">
            <a:extLst xmlns:a="http://schemas.openxmlformats.org/drawingml/2006/main">
              <a:ext uri="{FF2B5EF4-FFF2-40B4-BE49-F238E27FC236}">
                <a16:creationId xmlns:a16="http://schemas.microsoft.com/office/drawing/2014/main" id="{D64149C6-A159-4435-9B78-A72F7302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66675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Imagem: Prusa. Laranja = peça; verde = suportes.</a:t>
            </a:r>
          </a:p>
        </p:txBody>
      </p:sp>
    </p:spTree>
    <p:extLst>
      <p:ext uri="{BB962C8B-B14F-4D97-AF65-F5344CB8AC3E}">
        <p14:creationId xmlns:p14="http://schemas.microsoft.com/office/powerpoint/2010/main" val="19546672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14-text-1">
            <a:extLst xmlns:a="http://schemas.openxmlformats.org/drawingml/2006/main">
              <a:ext uri="{FF2B5EF4-FFF2-40B4-BE49-F238E27FC236}">
                <a16:creationId xmlns:a16="http://schemas.microsoft.com/office/drawing/2014/main" id="{F3D0F5DB-C52A-4E67-9318-516F005C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Explique o processo sem usar o computador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7B019-03EB-4AA3-9AFD-558285A8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14-text-2">
            <a:extLst xmlns:a="http://schemas.openxmlformats.org/drawingml/2006/main">
              <a:ext uri="{FF2B5EF4-FFF2-40B4-BE49-F238E27FC236}">
                <a16:creationId xmlns:a16="http://schemas.microsoft.com/office/drawing/2014/main" id="{EB3ECFC9-5A1E-4C5B-9816-D55CF7C9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Atividade em duplas | 9 min</a:t>
            </a:r>
          </a:p>
        </p:txBody>
      </p:sp>
      <p:sp>
        <p:nvSpPr>
          <p:cNvPr id="4" name="s14-text-3">
            <a:extLst xmlns:a="http://schemas.openxmlformats.org/drawingml/2006/main">
              <a:ext uri="{FF2B5EF4-FFF2-40B4-BE49-F238E27FC236}">
                <a16:creationId xmlns:a16="http://schemas.microsoft.com/office/drawing/2014/main" id="{21A9ABC8-6140-4A6A-840B-D0A6614B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s14-text-4">
            <a:extLst xmlns:a="http://schemas.openxmlformats.org/drawingml/2006/main">
              <a:ext uri="{FF2B5EF4-FFF2-40B4-BE49-F238E27FC236}">
                <a16:creationId xmlns:a16="http://schemas.microsoft.com/office/drawing/2014/main" id="{99C7A919-AAF3-44C8-9A14-B73BB3A8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14-text-5">
            <a:extLst xmlns:a="http://schemas.openxmlformats.org/drawingml/2006/main">
              <a:ext uri="{FF2B5EF4-FFF2-40B4-BE49-F238E27FC236}">
                <a16:creationId xmlns:a16="http://schemas.microsoft.com/office/drawing/2014/main" id="{FB910A38-4FE5-4938-A2A3-2E067104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71675"/>
            <a:ext cx="101346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Organize a sequência</a:t>
            </a:r>
          </a:p>
        </p:txBody>
      </p:sp>
      <p:sp>
        <p:nvSpPr>
          <p:cNvPr id="7" name="s14-text-6">
            <a:extLst xmlns:a="http://schemas.openxmlformats.org/drawingml/2006/main">
              <a:ext uri="{FF2B5EF4-FFF2-40B4-BE49-F238E27FC236}">
                <a16:creationId xmlns:a16="http://schemas.microsoft.com/office/drawing/2014/main" id="{318F3C99-586E-46E8-9888-9AA5D684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71725"/>
            <a:ext cx="101346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Impressão | modelo | ideia | G-code | fatiador</a:t>
            </a:r>
          </a:p>
        </p:txBody>
      </p:sp>
      <p:sp>
        <p:nvSpPr>
          <p:cNvPr id="8" name="s14-text-7">
            <a:extLst xmlns:a="http://schemas.openxmlformats.org/drawingml/2006/main">
              <a:ext uri="{FF2B5EF4-FFF2-40B4-BE49-F238E27FC236}">
                <a16:creationId xmlns:a16="http://schemas.microsoft.com/office/drawing/2014/main" id="{C3EFCB54-E127-4C8D-A228-ACCC1B6C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14-text-8">
            <a:extLst xmlns:a="http://schemas.openxmlformats.org/drawingml/2006/main">
              <a:ext uri="{FF2B5EF4-FFF2-40B4-BE49-F238E27FC236}">
                <a16:creationId xmlns:a16="http://schemas.microsoft.com/office/drawing/2014/main" id="{029819CC-3E0C-4B9F-9DB9-396A5583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28975"/>
            <a:ext cx="101346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Monte um volume com camadas de papel</a:t>
            </a:r>
          </a:p>
        </p:txBody>
      </p:sp>
      <p:sp>
        <p:nvSpPr>
          <p:cNvPr id="10" name="s14-text-9">
            <a:extLst xmlns:a="http://schemas.openxmlformats.org/drawingml/2006/main">
              <a:ext uri="{FF2B5EF4-FFF2-40B4-BE49-F238E27FC236}">
                <a16:creationId xmlns:a16="http://schemas.microsoft.com/office/drawing/2014/main" id="{44AD86CE-5AD2-4D11-B4D3-B7199603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29025"/>
            <a:ext cx="101346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O que muda quando acrescentamos mais uma camada?</a:t>
            </a:r>
          </a:p>
        </p:txBody>
      </p:sp>
      <p:sp>
        <p:nvSpPr>
          <p:cNvPr id="11" name="s14-text-10">
            <a:extLst xmlns:a="http://schemas.openxmlformats.org/drawingml/2006/main">
              <a:ext uri="{FF2B5EF4-FFF2-40B4-BE49-F238E27FC236}">
                <a16:creationId xmlns:a16="http://schemas.microsoft.com/office/drawing/2014/main" id="{0E934600-8B2D-40F1-A211-DE5812A8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s14-text-11">
            <a:extLst xmlns:a="http://schemas.openxmlformats.org/drawingml/2006/main">
              <a:ext uri="{FF2B5EF4-FFF2-40B4-BE49-F238E27FC236}">
                <a16:creationId xmlns:a16="http://schemas.microsoft.com/office/drawing/2014/main" id="{D2F45F95-EB1A-452E-AC5E-AA82C2D6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86275"/>
            <a:ext cx="101346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Explique para a outra pessoa</a:t>
            </a:r>
          </a:p>
        </p:txBody>
      </p:sp>
      <p:sp>
        <p:nvSpPr>
          <p:cNvPr id="13" name="s14-text-12">
            <a:extLst xmlns:a="http://schemas.openxmlformats.org/drawingml/2006/main">
              <a:ext uri="{FF2B5EF4-FFF2-40B4-BE49-F238E27FC236}">
                <a16:creationId xmlns:a16="http://schemas.microsoft.com/office/drawing/2014/main" id="{14CC7DF4-F839-49DA-A6F2-8DB7280C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86325"/>
            <a:ext cx="101346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Quem define a forma? Quem planeja? Quem executa?</a:t>
            </a:r>
          </a:p>
        </p:txBody>
      </p:sp>
    </p:spTree>
    <p:extLst>
      <p:ext uri="{BB962C8B-B14F-4D97-AF65-F5344CB8AC3E}">
        <p14:creationId xmlns:p14="http://schemas.microsoft.com/office/powerpoint/2010/main" val="16982741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22D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15-text-1">
            <a:extLst xmlns:a="http://schemas.openxmlformats.org/drawingml/2006/main">
              <a:ext uri="{FF2B5EF4-FFF2-40B4-BE49-F238E27FC236}">
                <a16:creationId xmlns:a16="http://schemas.microsoft.com/office/drawing/2014/main" id="{3524A953-C035-4114-97F9-DEA81B0F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D7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D7DF"/>
                </a:solidFill>
                <a:latin typeface="Arial"/>
                <a:ea typeface="Arial"/>
                <a:cs typeface="Arial"/>
              </a:rPr>
              <a:t>Pausa | 20:20-20:30</a:t>
            </a:r>
          </a:p>
        </p:txBody>
      </p:sp>
      <p:sp>
        <p:nvSpPr>
          <p:cNvPr id="2" name="s15-text-2">
            <a:extLst xmlns:a="http://schemas.openxmlformats.org/drawingml/2006/main">
              <a:ext uri="{FF2B5EF4-FFF2-40B4-BE49-F238E27FC236}">
                <a16:creationId xmlns:a16="http://schemas.microsoft.com/office/drawing/2014/main" id="{31E1C8E5-A931-4B65-AE67-C5657233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9D7D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D7D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s15-text-3">
            <a:extLst xmlns:a="http://schemas.openxmlformats.org/drawingml/2006/main">
              <a:ext uri="{FF2B5EF4-FFF2-40B4-BE49-F238E27FC236}">
                <a16:creationId xmlns:a16="http://schemas.microsoft.com/office/drawing/2014/main" id="{AA24A0A9-C759-4CDE-8527-5F761AFD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001250" cy="1476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 min</a:t>
            </a:r>
          </a:p>
        </p:txBody>
      </p:sp>
      <p:sp>
        <p:nvSpPr>
          <p:cNvPr id="4" name="s15-text-4">
            <a:extLst xmlns:a="http://schemas.openxmlformats.org/drawingml/2006/main">
              <a:ext uri="{FF2B5EF4-FFF2-40B4-BE49-F238E27FC236}">
                <a16:creationId xmlns:a16="http://schemas.microsoft.com/office/drawing/2014/main" id="{1266A9B9-347E-4CD6-92A0-06F253AF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981075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B9D7D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B9D7DF"/>
                </a:solidFill>
                <a:latin typeface="Arial"/>
                <a:ea typeface="Arial"/>
                <a:cs typeface="Arial"/>
              </a:rPr>
              <a:t>Pausa</a:t>
            </a:r>
          </a:p>
        </p:txBody>
      </p:sp>
      <p:sp>
        <p:nvSpPr>
          <p:cNvPr id="5" name="s15-text-5">
            <a:extLst xmlns:a="http://schemas.openxmlformats.org/drawingml/2006/main">
              <a:ext uri="{FF2B5EF4-FFF2-40B4-BE49-F238E27FC236}">
                <a16:creationId xmlns:a16="http://schemas.microsoft.com/office/drawing/2014/main" id="{4939FA83-81CA-4A7F-9191-4CCEAD7C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10144125" cy="37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Voltamos às 20:30 para falar de usos e custos.</a:t>
            </a:r>
          </a:p>
        </p:txBody>
      </p:sp>
    </p:spTree>
    <p:extLst>
      <p:ext uri="{BB962C8B-B14F-4D97-AF65-F5344CB8AC3E}">
        <p14:creationId xmlns:p14="http://schemas.microsoft.com/office/powerpoint/2010/main" val="14340297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16-text-1">
            <a:extLst xmlns:a="http://schemas.openxmlformats.org/drawingml/2006/main">
              <a:ext uri="{FF2B5EF4-FFF2-40B4-BE49-F238E27FC236}">
                <a16:creationId xmlns:a16="http://schemas.microsoft.com/office/drawing/2014/main" id="{9B66D0E3-644B-4C87-A777-21F2BE74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Uma tecnologia com décadas de evolução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AC049-7922-430A-A099-2A8BEDE1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16-text-2">
            <a:extLst xmlns:a="http://schemas.openxmlformats.org/drawingml/2006/main">
              <a:ext uri="{FF2B5EF4-FFF2-40B4-BE49-F238E27FC236}">
                <a16:creationId xmlns:a16="http://schemas.microsoft.com/office/drawing/2014/main" id="{1ADAB14F-3208-45F8-8048-F03B61A8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História, usos e material | 90-100 min</a:t>
            </a:r>
          </a:p>
        </p:txBody>
      </p:sp>
      <p:sp>
        <p:nvSpPr>
          <p:cNvPr id="4" name="s16-text-3">
            <a:extLst xmlns:a="http://schemas.openxmlformats.org/drawingml/2006/main">
              <a:ext uri="{FF2B5EF4-FFF2-40B4-BE49-F238E27FC236}">
                <a16:creationId xmlns:a16="http://schemas.microsoft.com/office/drawing/2014/main" id="{91AFA930-B40E-42E8-A2E8-AFCD8C49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s16-text-4">
            <a:extLst xmlns:a="http://schemas.openxmlformats.org/drawingml/2006/main">
              <a:ext uri="{FF2B5EF4-FFF2-40B4-BE49-F238E27FC236}">
                <a16:creationId xmlns:a16="http://schemas.microsoft.com/office/drawing/2014/main" id="{42E80162-8993-4B89-BA4F-1D7A5C26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38500" cy="784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1984</a:t>
            </a:r>
          </a:p>
        </p:txBody>
      </p:sp>
      <p:sp>
        <p:nvSpPr>
          <p:cNvPr id="6" name="s16-text-5">
            <a:extLst xmlns:a="http://schemas.openxmlformats.org/drawingml/2006/main">
              <a:ext uri="{FF2B5EF4-FFF2-40B4-BE49-F238E27FC236}">
                <a16:creationId xmlns:a16="http://schemas.microsoft.com/office/drawing/2014/main" id="{020F21D6-1989-4D7F-B059-E214E2D8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3257550" cy="37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Resina e luz</a:t>
            </a:r>
          </a:p>
        </p:txBody>
      </p:sp>
      <p:sp>
        <p:nvSpPr>
          <p:cNvPr id="7" name="s16-text-6">
            <a:extLst xmlns:a="http://schemas.openxmlformats.org/drawingml/2006/main">
              <a:ext uri="{FF2B5EF4-FFF2-40B4-BE49-F238E27FC236}">
                <a16:creationId xmlns:a16="http://schemas.microsoft.com/office/drawing/2014/main" id="{9AFD443A-2D88-4FEB-BA05-883D108D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329565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Chuck Hull deposita a</a:t>
            </a:r>
          </a:p>
        </p:txBody>
      </p:sp>
      <p:sp>
        <p:nvSpPr>
          <p:cNvPr id="8" name="s16-text-7">
            <a:extLst xmlns:a="http://schemas.openxmlformats.org/drawingml/2006/main">
              <a:ext uri="{FF2B5EF4-FFF2-40B4-BE49-F238E27FC236}">
                <a16:creationId xmlns:a16="http://schemas.microsoft.com/office/drawing/2014/main" id="{89DF48F6-6A4A-4D03-AD15-53C7B874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610"/>
            <a:ext cx="329565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patente de estereolitografia.</a:t>
            </a:r>
          </a:p>
        </p:txBody>
      </p:sp>
      <p:sp>
        <p:nvSpPr>
          <p:cNvPr id="9" name="s16-text-8">
            <a:extLst xmlns:a="http://schemas.openxmlformats.org/drawingml/2006/main">
              <a:ext uri="{FF2B5EF4-FFF2-40B4-BE49-F238E27FC236}">
                <a16:creationId xmlns:a16="http://schemas.microsoft.com/office/drawing/2014/main" id="{8D636F01-1EA3-47C7-B794-8D71EB53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3238500" cy="784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1989</a:t>
            </a:r>
          </a:p>
        </p:txBody>
      </p:sp>
      <p:sp>
        <p:nvSpPr>
          <p:cNvPr id="10" name="s16-text-9">
            <a:extLst xmlns:a="http://schemas.openxmlformats.org/drawingml/2006/main">
              <a:ext uri="{FF2B5EF4-FFF2-40B4-BE49-F238E27FC236}">
                <a16:creationId xmlns:a16="http://schemas.microsoft.com/office/drawing/2014/main" id="{13B419C8-D619-4A2F-B996-662759FD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24200"/>
            <a:ext cx="3257550" cy="37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Filamento</a:t>
            </a:r>
          </a:p>
        </p:txBody>
      </p:sp>
      <p:sp>
        <p:nvSpPr>
          <p:cNvPr id="11" name="s16-text-10">
            <a:extLst xmlns:a="http://schemas.openxmlformats.org/drawingml/2006/main">
              <a:ext uri="{FF2B5EF4-FFF2-40B4-BE49-F238E27FC236}">
                <a16:creationId xmlns:a16="http://schemas.microsoft.com/office/drawing/2014/main" id="{F0C751AC-1FF0-4FB3-A950-E72529A1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329565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Scott Crump deposita uma</a:t>
            </a:r>
          </a:p>
        </p:txBody>
      </p:sp>
      <p:sp>
        <p:nvSpPr>
          <p:cNvPr id="12" name="s16-text-11">
            <a:extLst xmlns:a="http://schemas.openxmlformats.org/drawingml/2006/main">
              <a:ext uri="{FF2B5EF4-FFF2-40B4-BE49-F238E27FC236}">
                <a16:creationId xmlns:a16="http://schemas.microsoft.com/office/drawing/2014/main" id="{546AB300-2C56-4843-A66C-09DD1B9B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14610"/>
            <a:ext cx="329565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patente do processo FDM.</a:t>
            </a:r>
          </a:p>
        </p:txBody>
      </p:sp>
      <p:sp>
        <p:nvSpPr>
          <p:cNvPr id="13" name="s16-text-12">
            <a:extLst xmlns:a="http://schemas.openxmlformats.org/drawingml/2006/main">
              <a:ext uri="{FF2B5EF4-FFF2-40B4-BE49-F238E27FC236}">
                <a16:creationId xmlns:a16="http://schemas.microsoft.com/office/drawing/2014/main" id="{E0FFCA7F-852F-4DF5-B00D-07B0B8B4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38500" cy="784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Hoje</a:t>
            </a:r>
          </a:p>
        </p:txBody>
      </p:sp>
      <p:sp>
        <p:nvSpPr>
          <p:cNvPr id="14" name="s16-text-13">
            <a:extLst xmlns:a="http://schemas.openxmlformats.org/drawingml/2006/main">
              <a:ext uri="{FF2B5EF4-FFF2-40B4-BE49-F238E27FC236}">
                <a16:creationId xmlns:a16="http://schemas.microsoft.com/office/drawing/2014/main" id="{9770AFC1-9C6B-40FE-951F-EB13A5C1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3257550" cy="37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Diferentes processos</a:t>
            </a:r>
          </a:p>
        </p:txBody>
      </p:sp>
      <p:sp>
        <p:nvSpPr>
          <p:cNvPr id="15" name="s16-text-14">
            <a:extLst xmlns:a="http://schemas.openxmlformats.org/drawingml/2006/main">
              <a:ext uri="{FF2B5EF4-FFF2-40B4-BE49-F238E27FC236}">
                <a16:creationId xmlns:a16="http://schemas.microsoft.com/office/drawing/2014/main" id="{7D4B9C3A-4643-4166-B6DB-BA33D50C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10000"/>
            <a:ext cx="329565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Filamentos, resinas, pós</a:t>
            </a:r>
          </a:p>
        </p:txBody>
      </p:sp>
      <p:sp>
        <p:nvSpPr>
          <p:cNvPr id="16" name="s16-text-15">
            <a:extLst xmlns:a="http://schemas.openxmlformats.org/drawingml/2006/main">
              <a:ext uri="{FF2B5EF4-FFF2-40B4-BE49-F238E27FC236}">
                <a16:creationId xmlns:a16="http://schemas.microsoft.com/office/drawing/2014/main" id="{251C22F1-6274-46AA-BB0D-4D3A1C6D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610"/>
            <a:ext cx="329565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e aplicações diversas.</a:t>
            </a:r>
          </a:p>
        </p:txBody>
      </p:sp>
      <p:sp>
        <p:nvSpPr>
          <p:cNvPr id="17" name="s16-text-16">
            <a:extLst xmlns:a="http://schemas.openxmlformats.org/drawingml/2006/main">
              <a:ext uri="{FF2B5EF4-FFF2-40B4-BE49-F238E27FC236}">
                <a16:creationId xmlns:a16="http://schemas.microsoft.com/office/drawing/2014/main" id="{A86D3FFC-5DC4-41CE-BD61-AF99A367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887075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A patente de Crump foi concedida em 1992. Na aula, nosso foco é o filamento.</a:t>
            </a:r>
          </a:p>
        </p:txBody>
      </p:sp>
    </p:spTree>
    <p:extLst>
      <p:ext uri="{BB962C8B-B14F-4D97-AF65-F5344CB8AC3E}">
        <p14:creationId xmlns:p14="http://schemas.microsoft.com/office/powerpoint/2010/main" val="20893224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17-text-1">
            <a:extLst xmlns:a="http://schemas.openxmlformats.org/drawingml/2006/main">
              <a:ext uri="{FF2B5EF4-FFF2-40B4-BE49-F238E27FC236}">
                <a16:creationId xmlns:a16="http://schemas.microsoft.com/office/drawing/2014/main" id="{93CDE46F-FD2B-4730-A9A9-DE4F2A4C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Quando vale a pena imprimir?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38636-F673-4E8D-8110-8235817A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17-text-2">
            <a:extLst xmlns:a="http://schemas.openxmlformats.org/drawingml/2006/main">
              <a:ext uri="{FF2B5EF4-FFF2-40B4-BE49-F238E27FC236}">
                <a16:creationId xmlns:a16="http://schemas.microsoft.com/office/drawing/2014/main" id="{F277374A-E48F-4172-BF79-ADC14322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História, usos e material | 90-100 min</a:t>
            </a:r>
          </a:p>
        </p:txBody>
      </p:sp>
      <p:sp>
        <p:nvSpPr>
          <p:cNvPr id="4" name="s17-text-3">
            <a:extLst xmlns:a="http://schemas.openxmlformats.org/drawingml/2006/main">
              <a:ext uri="{FF2B5EF4-FFF2-40B4-BE49-F238E27FC236}">
                <a16:creationId xmlns:a16="http://schemas.microsoft.com/office/drawing/2014/main" id="{DBC03A61-0A28-45A1-9F14-48F15A45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s17-text-4">
            <a:extLst xmlns:a="http://schemas.openxmlformats.org/drawingml/2006/main">
              <a:ext uri="{FF2B5EF4-FFF2-40B4-BE49-F238E27FC236}">
                <a16:creationId xmlns:a16="http://schemas.microsoft.com/office/drawing/2014/main" id="{F3913E74-DE85-46CC-A6ED-7BCD7448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2152650" cy="39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Casa</a:t>
            </a:r>
          </a:p>
        </p:txBody>
      </p:sp>
      <p:sp>
        <p:nvSpPr>
          <p:cNvPr id="6" name="s17-text-5">
            <a:extLst xmlns:a="http://schemas.openxmlformats.org/drawingml/2006/main">
              <a:ext uri="{FF2B5EF4-FFF2-40B4-BE49-F238E27FC236}">
                <a16:creationId xmlns:a16="http://schemas.microsoft.com/office/drawing/2014/main" id="{FEAFE389-3933-4ECE-A776-AC56342E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95475"/>
            <a:ext cx="8305800" cy="37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Organizador sob medida</a:t>
            </a:r>
          </a:p>
        </p:txBody>
      </p:sp>
      <p:sp>
        <p:nvSpPr>
          <p:cNvPr id="7" name="s17-text-6">
            <a:extLst xmlns:a="http://schemas.openxmlformats.org/drawingml/2006/main">
              <a:ext uri="{FF2B5EF4-FFF2-40B4-BE49-F238E27FC236}">
                <a16:creationId xmlns:a16="http://schemas.microsoft.com/office/drawing/2014/main" id="{9E3AFDF5-CE3F-4D12-A3AB-3424AA80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14575"/>
            <a:ext cx="809625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Cabe no espaço disponível?</a:t>
            </a:r>
          </a:p>
        </p:txBody>
      </p:sp>
      <p:sp>
        <p:nvSpPr>
          <p:cNvPr id="8" name="s17-text-7">
            <a:extLst xmlns:a="http://schemas.openxmlformats.org/drawingml/2006/main">
              <a:ext uri="{FF2B5EF4-FFF2-40B4-BE49-F238E27FC236}">
                <a16:creationId xmlns:a16="http://schemas.microsoft.com/office/drawing/2014/main" id="{7FCA52D5-C7FF-4431-A496-F3D6EE5F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152650" cy="39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Escola</a:t>
            </a:r>
          </a:p>
        </p:txBody>
      </p:sp>
      <p:sp>
        <p:nvSpPr>
          <p:cNvPr id="9" name="s17-text-8">
            <a:extLst xmlns:a="http://schemas.openxmlformats.org/drawingml/2006/main">
              <a:ext uri="{FF2B5EF4-FFF2-40B4-BE49-F238E27FC236}">
                <a16:creationId xmlns:a16="http://schemas.microsoft.com/office/drawing/2014/main" id="{88808E3C-3D52-4E32-B0CA-DCF2820A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05150"/>
            <a:ext cx="8305800" cy="37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Modelo geométrico</a:t>
            </a:r>
          </a:p>
        </p:txBody>
      </p:sp>
      <p:sp>
        <p:nvSpPr>
          <p:cNvPr id="10" name="s17-text-9">
            <a:extLst xmlns:a="http://schemas.openxmlformats.org/drawingml/2006/main">
              <a:ext uri="{FF2B5EF4-FFF2-40B4-BE49-F238E27FC236}">
                <a16:creationId xmlns:a16="http://schemas.microsoft.com/office/drawing/2014/main" id="{8EB93175-2CB7-44D2-B8F3-C570B9DD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24250"/>
            <a:ext cx="809625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Ajuda a visualizar um conceito?</a:t>
            </a:r>
          </a:p>
        </p:txBody>
      </p:sp>
      <p:sp>
        <p:nvSpPr>
          <p:cNvPr id="11" name="s17-text-10">
            <a:extLst xmlns:a="http://schemas.openxmlformats.org/drawingml/2006/main">
              <a:ext uri="{FF2B5EF4-FFF2-40B4-BE49-F238E27FC236}">
                <a16:creationId xmlns:a16="http://schemas.microsoft.com/office/drawing/2014/main" id="{C011EDD3-034A-42BF-A8ED-4F7A961E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2152650" cy="39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Indústria</a:t>
            </a:r>
          </a:p>
        </p:txBody>
      </p:sp>
      <p:sp>
        <p:nvSpPr>
          <p:cNvPr id="12" name="s17-text-11">
            <a:extLst xmlns:a="http://schemas.openxmlformats.org/drawingml/2006/main">
              <a:ext uri="{FF2B5EF4-FFF2-40B4-BE49-F238E27FC236}">
                <a16:creationId xmlns:a16="http://schemas.microsoft.com/office/drawing/2014/main" id="{5F5D8FCA-E1CA-4FD9-94D5-577DA35B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14825"/>
            <a:ext cx="8305800" cy="37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Protótipo de encaixe</a:t>
            </a:r>
          </a:p>
        </p:txBody>
      </p:sp>
      <p:sp>
        <p:nvSpPr>
          <p:cNvPr id="13" name="s17-text-12">
            <a:extLst xmlns:a="http://schemas.openxmlformats.org/drawingml/2006/main">
              <a:ext uri="{FF2B5EF4-FFF2-40B4-BE49-F238E27FC236}">
                <a16:creationId xmlns:a16="http://schemas.microsoft.com/office/drawing/2014/main" id="{B20D9AC7-8447-46F6-BA42-3151C850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33925"/>
            <a:ext cx="809625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Permite testar antes de fabricar?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FC8E9-E73D-4CBA-9E82-DE659A32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15" name="s17-text-13">
            <a:extLst xmlns:a="http://schemas.openxmlformats.org/drawingml/2006/main">
              <a:ext uri="{FF2B5EF4-FFF2-40B4-BE49-F238E27FC236}">
                <a16:creationId xmlns:a16="http://schemas.microsoft.com/office/drawing/2014/main" id="{53B58A27-DBED-43DB-8E91-07D3CB0E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81675"/>
            <a:ext cx="10563225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Compare utilidade, tempo, custo, resistência e autoria do modelo.</a:t>
            </a:r>
          </a:p>
        </p:txBody>
      </p:sp>
    </p:spTree>
    <p:extLst>
      <p:ext uri="{BB962C8B-B14F-4D97-AF65-F5344CB8AC3E}">
        <p14:creationId xmlns:p14="http://schemas.microsoft.com/office/powerpoint/2010/main" val="12750042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18-text-1">
            <a:extLst xmlns:a="http://schemas.openxmlformats.org/drawingml/2006/main">
              <a:ext uri="{FF2B5EF4-FFF2-40B4-BE49-F238E27FC236}">
                <a16:creationId xmlns:a16="http://schemas.microsoft.com/office/drawing/2014/main" id="{76A1B631-ACCB-4B13-A866-3369E3AA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PLA: um ponto de partida para a aula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532FA-8E4F-4427-9547-9B7A71BD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18-text-2">
            <a:extLst xmlns:a="http://schemas.openxmlformats.org/drawingml/2006/main">
              <a:ext uri="{FF2B5EF4-FFF2-40B4-BE49-F238E27FC236}">
                <a16:creationId xmlns:a16="http://schemas.microsoft.com/office/drawing/2014/main" id="{41FB27DF-CE59-45D2-8D9D-33E31594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História, usos e material | 90-100 min</a:t>
            </a:r>
          </a:p>
        </p:txBody>
      </p:sp>
      <p:sp>
        <p:nvSpPr>
          <p:cNvPr id="4" name="s18-text-3">
            <a:extLst xmlns:a="http://schemas.openxmlformats.org/drawingml/2006/main">
              <a:ext uri="{FF2B5EF4-FFF2-40B4-BE49-F238E27FC236}">
                <a16:creationId xmlns:a16="http://schemas.microsoft.com/office/drawing/2014/main" id="{E0B47F53-B0D4-49EB-9C59-89DC5E50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s18-text-4">
            <a:extLst xmlns:a="http://schemas.openxmlformats.org/drawingml/2006/main">
              <a:ext uri="{FF2B5EF4-FFF2-40B4-BE49-F238E27FC236}">
                <a16:creationId xmlns:a16="http://schemas.microsoft.com/office/drawing/2014/main" id="{165B7566-8193-4BD4-BAD1-367A26B3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095750" cy="1335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85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PLA</a:t>
            </a:r>
          </a:p>
        </p:txBody>
      </p:sp>
      <p:sp>
        <p:nvSpPr>
          <p:cNvPr id="6" name="s18-text-5">
            <a:extLst xmlns:a="http://schemas.openxmlformats.org/drawingml/2006/main">
              <a:ext uri="{FF2B5EF4-FFF2-40B4-BE49-F238E27FC236}">
                <a16:creationId xmlns:a16="http://schemas.microsoft.com/office/drawing/2014/main" id="{9CBD55E6-2F5A-4462-B184-1438D687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462915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Filamento termoplástico</a:t>
            </a:r>
          </a:p>
        </p:txBody>
      </p:sp>
      <p:sp>
        <p:nvSpPr>
          <p:cNvPr id="7" name="s18-text-6">
            <a:extLst xmlns:a="http://schemas.openxmlformats.org/drawingml/2006/main">
              <a:ext uri="{FF2B5EF4-FFF2-40B4-BE49-F238E27FC236}">
                <a16:creationId xmlns:a16="http://schemas.microsoft.com/office/drawing/2014/main" id="{7655C868-32A4-46E4-BBC5-E1A704BF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8098"/>
            <a:ext cx="462915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comum em protótipos e</a:t>
            </a:r>
          </a:p>
        </p:txBody>
      </p:sp>
      <p:sp>
        <p:nvSpPr>
          <p:cNvPr id="8" name="s18-text-7">
            <a:extLst xmlns:a="http://schemas.openxmlformats.org/drawingml/2006/main">
              <a:ext uri="{FF2B5EF4-FFF2-40B4-BE49-F238E27FC236}">
                <a16:creationId xmlns:a16="http://schemas.microsoft.com/office/drawing/2014/main" id="{1AB5B569-EAD7-41BA-A2C5-A2C2BB97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9570"/>
            <a:ext cx="462915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objetos de uso leve.</a:t>
            </a:r>
          </a:p>
        </p:txBody>
      </p:sp>
      <p:sp>
        <p:nvSpPr>
          <p:cNvPr id="9" name="s18-text-8">
            <a:extLst xmlns:a="http://schemas.openxmlformats.org/drawingml/2006/main">
              <a:ext uri="{FF2B5EF4-FFF2-40B4-BE49-F238E27FC236}">
                <a16:creationId xmlns:a16="http://schemas.microsoft.com/office/drawing/2014/main" id="{5D4FEAD0-5C8A-4B4E-94D9-23F717A4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s18-text-9">
            <a:extLst xmlns:a="http://schemas.openxmlformats.org/drawingml/2006/main">
              <a:ext uri="{FF2B5EF4-FFF2-40B4-BE49-F238E27FC236}">
                <a16:creationId xmlns:a16="http://schemas.microsoft.com/office/drawing/2014/main" id="{5C809C23-7925-4F10-B864-68C567E3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00250"/>
            <a:ext cx="432435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Leia o carretel</a:t>
            </a:r>
          </a:p>
        </p:txBody>
      </p:sp>
      <p:sp>
        <p:nvSpPr>
          <p:cNvPr id="11" name="s18-text-10">
            <a:extLst xmlns:a="http://schemas.openxmlformats.org/drawingml/2006/main">
              <a:ext uri="{FF2B5EF4-FFF2-40B4-BE49-F238E27FC236}">
                <a16:creationId xmlns:a16="http://schemas.microsoft.com/office/drawing/2014/main" id="{4BE87041-FBC1-44C6-A6CC-566C3CD4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00300"/>
            <a:ext cx="432435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Confirme material e recomendações.</a:t>
            </a:r>
          </a:p>
        </p:txBody>
      </p:sp>
      <p:sp>
        <p:nvSpPr>
          <p:cNvPr id="12" name="s18-text-11">
            <a:extLst xmlns:a="http://schemas.openxmlformats.org/drawingml/2006/main">
              <a:ext uri="{FF2B5EF4-FFF2-40B4-BE49-F238E27FC236}">
                <a16:creationId xmlns:a16="http://schemas.microsoft.com/office/drawing/2014/main" id="{AAFEB708-01D7-4CE7-830D-7D122B9F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s18-text-12">
            <a:extLst xmlns:a="http://schemas.openxmlformats.org/drawingml/2006/main">
              <a:ext uri="{FF2B5EF4-FFF2-40B4-BE49-F238E27FC236}">
                <a16:creationId xmlns:a16="http://schemas.microsoft.com/office/drawing/2014/main" id="{2C4FD53F-BD21-45AC-B249-840357F6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52800"/>
            <a:ext cx="432435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Escolha o perfil correto</a:t>
            </a:r>
          </a:p>
        </p:txBody>
      </p:sp>
      <p:sp>
        <p:nvSpPr>
          <p:cNvPr id="14" name="s18-text-13">
            <a:extLst xmlns:a="http://schemas.openxmlformats.org/drawingml/2006/main">
              <a:ext uri="{FF2B5EF4-FFF2-40B4-BE49-F238E27FC236}">
                <a16:creationId xmlns:a16="http://schemas.microsoft.com/office/drawing/2014/main" id="{70FDACB2-8965-45B6-BAC4-FB3AEF2D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52850"/>
            <a:ext cx="432435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Máquina, bico e filamento precisam</a:t>
            </a:r>
          </a:p>
        </p:txBody>
      </p:sp>
      <p:sp>
        <p:nvSpPr>
          <p:cNvPr id="15" name="s18-text-14">
            <a:extLst xmlns:a="http://schemas.openxmlformats.org/drawingml/2006/main">
              <a:ext uri="{FF2B5EF4-FFF2-40B4-BE49-F238E27FC236}">
                <a16:creationId xmlns:a16="http://schemas.microsoft.com/office/drawing/2014/main" id="{BC68AB00-EB5B-4559-8317-16F25C23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57460"/>
            <a:ext cx="432435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combinar.</a:t>
            </a:r>
          </a:p>
        </p:txBody>
      </p:sp>
      <p:sp>
        <p:nvSpPr>
          <p:cNvPr id="16" name="s18-text-15">
            <a:extLst xmlns:a="http://schemas.openxmlformats.org/drawingml/2006/main">
              <a:ext uri="{FF2B5EF4-FFF2-40B4-BE49-F238E27FC236}">
                <a16:creationId xmlns:a16="http://schemas.microsoft.com/office/drawing/2014/main" id="{3280E025-E79D-40E2-90E3-DB0EB201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91100"/>
            <a:ext cx="5048250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Evite calor excessivo no uso final.</a:t>
            </a:r>
          </a:p>
        </p:txBody>
      </p:sp>
      <p:sp>
        <p:nvSpPr>
          <p:cNvPr id="17" name="s18-text-16">
            <a:extLst xmlns:a="http://schemas.openxmlformats.org/drawingml/2006/main">
              <a:ext uri="{FF2B5EF4-FFF2-40B4-BE49-F238E27FC236}">
                <a16:creationId xmlns:a16="http://schemas.microsoft.com/office/drawing/2014/main" id="{9A19513D-E790-4585-BECF-C3AD0749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07425"/>
            <a:ext cx="5048250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Mantenha a ventilação também com</a:t>
            </a:r>
          </a:p>
        </p:txBody>
      </p:sp>
      <p:sp>
        <p:nvSpPr>
          <p:cNvPr id="18" name="s18-text-17">
            <a:extLst xmlns:a="http://schemas.openxmlformats.org/drawingml/2006/main">
              <a:ext uri="{FF2B5EF4-FFF2-40B4-BE49-F238E27FC236}">
                <a16:creationId xmlns:a16="http://schemas.microsoft.com/office/drawing/2014/main" id="{C9FB5A8B-5A02-43CC-B2CF-0A2247CC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23751"/>
            <a:ext cx="5048250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PLA.</a:t>
            </a:r>
          </a:p>
        </p:txBody>
      </p:sp>
    </p:spTree>
    <p:extLst>
      <p:ext uri="{BB962C8B-B14F-4D97-AF65-F5344CB8AC3E}">
        <p14:creationId xmlns:p14="http://schemas.microsoft.com/office/powerpoint/2010/main" val="20712544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19-text-1">
            <a:extLst xmlns:a="http://schemas.openxmlformats.org/drawingml/2006/main">
              <a:ext uri="{FF2B5EF4-FFF2-40B4-BE49-F238E27FC236}">
                <a16:creationId xmlns:a16="http://schemas.microsoft.com/office/drawing/2014/main" id="{798F73AF-2951-42E5-A973-06DF22F5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Quanto custa só o filamento?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58805-7743-4E10-884B-3430AC67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19-text-2">
            <a:extLst xmlns:a="http://schemas.openxmlformats.org/drawingml/2006/main">
              <a:ext uri="{FF2B5EF4-FFF2-40B4-BE49-F238E27FC236}">
                <a16:creationId xmlns:a16="http://schemas.microsoft.com/office/drawing/2014/main" id="{14F17231-6F7C-4544-9323-5A28061E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Custos | 100-125 min</a:t>
            </a:r>
          </a:p>
        </p:txBody>
      </p:sp>
      <p:sp>
        <p:nvSpPr>
          <p:cNvPr id="4" name="s19-text-3">
            <a:extLst xmlns:a="http://schemas.openxmlformats.org/drawingml/2006/main">
              <a:ext uri="{FF2B5EF4-FFF2-40B4-BE49-F238E27FC236}">
                <a16:creationId xmlns:a16="http://schemas.microsoft.com/office/drawing/2014/main" id="{D1CD0B93-2387-4731-AB12-68C558EC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s19-text-4">
            <a:extLst xmlns:a="http://schemas.openxmlformats.org/drawingml/2006/main">
              <a:ext uri="{FF2B5EF4-FFF2-40B4-BE49-F238E27FC236}">
                <a16:creationId xmlns:a16="http://schemas.microsoft.com/office/drawing/2014/main" id="{BCAF201D-C983-4228-BA6F-1370D193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668000" cy="37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Exemplo didático: R$ 100 por kg</a:t>
            </a:r>
          </a:p>
        </p:txBody>
      </p:sp>
      <p:sp>
        <p:nvSpPr>
          <p:cNvPr id="6" name="s19-text-5">
            <a:extLst xmlns:a="http://schemas.openxmlformats.org/drawingml/2006/main">
              <a:ext uri="{FF2B5EF4-FFF2-40B4-BE49-F238E27FC236}">
                <a16:creationId xmlns:a16="http://schemas.microsoft.com/office/drawing/2014/main" id="{C8B74034-D468-4476-A4F1-22D8B150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06125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custo = massa em g x preço do kg / 1.000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0AB37-3F27-4FAC-A08C-60A4A70B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8" name="s19-text-6">
            <a:extLst xmlns:a="http://schemas.openxmlformats.org/drawingml/2006/main">
              <a:ext uri="{FF2B5EF4-FFF2-40B4-BE49-F238E27FC236}">
                <a16:creationId xmlns:a16="http://schemas.microsoft.com/office/drawing/2014/main" id="{6E9995BD-2C0D-4CAA-BACD-BE0F01C6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419600" cy="843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8 g</a:t>
            </a:r>
          </a:p>
        </p:txBody>
      </p:sp>
      <p:sp>
        <p:nvSpPr>
          <p:cNvPr id="9" name="s19-text-7">
            <a:extLst xmlns:a="http://schemas.openxmlformats.org/drawingml/2006/main">
              <a:ext uri="{FF2B5EF4-FFF2-40B4-BE49-F238E27FC236}">
                <a16:creationId xmlns:a16="http://schemas.microsoft.com/office/drawing/2014/main" id="{1BE5A54B-747C-4846-9198-1986B003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5000625" cy="363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8 x 100 / 1.000 = R$ 0,80</a:t>
            </a:r>
          </a:p>
        </p:txBody>
      </p:sp>
      <p:sp>
        <p:nvSpPr>
          <p:cNvPr id="10" name="s19-text-8">
            <a:extLst xmlns:a="http://schemas.openxmlformats.org/drawingml/2006/main">
              <a:ext uri="{FF2B5EF4-FFF2-40B4-BE49-F238E27FC236}">
                <a16:creationId xmlns:a16="http://schemas.microsoft.com/office/drawing/2014/main" id="{91E70F65-C845-4ED6-8226-9F4E92A5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52850"/>
            <a:ext cx="4514850" cy="843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40 g</a:t>
            </a:r>
          </a:p>
        </p:txBody>
      </p:sp>
      <p:sp>
        <p:nvSpPr>
          <p:cNvPr id="11" name="s19-text-9">
            <a:extLst xmlns:a="http://schemas.openxmlformats.org/drawingml/2006/main">
              <a:ext uri="{FF2B5EF4-FFF2-40B4-BE49-F238E27FC236}">
                <a16:creationId xmlns:a16="http://schemas.microsoft.com/office/drawing/2014/main" id="{D3547310-D3AC-4DD4-B238-C8BAF648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05350"/>
            <a:ext cx="5048250" cy="363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40 x 100 / 1.000 = R$ 4,00</a:t>
            </a:r>
          </a:p>
        </p:txBody>
      </p:sp>
      <p:sp>
        <p:nvSpPr>
          <p:cNvPr id="12" name="s19-text-10">
            <a:extLst xmlns:a="http://schemas.openxmlformats.org/drawingml/2006/main">
              <a:ext uri="{FF2B5EF4-FFF2-40B4-BE49-F238E27FC236}">
                <a16:creationId xmlns:a16="http://schemas.microsoft.com/office/drawing/2014/main" id="{B2ADEC3E-3A09-4E65-BFB6-393112C6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763250" cy="328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Esses valores representam apenas o filamento consumido.</a:t>
            </a:r>
          </a:p>
        </p:txBody>
      </p:sp>
    </p:spTree>
    <p:extLst>
      <p:ext uri="{BB962C8B-B14F-4D97-AF65-F5344CB8AC3E}">
        <p14:creationId xmlns:p14="http://schemas.microsoft.com/office/powerpoint/2010/main" val="17324983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20-text-1">
            <a:extLst xmlns:a="http://schemas.openxmlformats.org/drawingml/2006/main">
              <a:ext uri="{FF2B5EF4-FFF2-40B4-BE49-F238E27FC236}">
                <a16:creationId xmlns:a16="http://schemas.microsoft.com/office/drawing/2014/main" id="{9645FAAA-19E7-4AE1-AB2C-106B4BBE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Material não é o custo total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D9876-0EDC-42AF-AE1B-D850B06A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20-text-2">
            <a:extLst xmlns:a="http://schemas.openxmlformats.org/drawingml/2006/main">
              <a:ext uri="{FF2B5EF4-FFF2-40B4-BE49-F238E27FC236}">
                <a16:creationId xmlns:a16="http://schemas.microsoft.com/office/drawing/2014/main" id="{2B808023-E14B-4381-B35F-557002FC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Custos | 100-125 min</a:t>
            </a:r>
          </a:p>
        </p:txBody>
      </p:sp>
      <p:sp>
        <p:nvSpPr>
          <p:cNvPr id="4" name="s20-text-3">
            <a:extLst xmlns:a="http://schemas.openxmlformats.org/drawingml/2006/main">
              <a:ext uri="{FF2B5EF4-FFF2-40B4-BE49-F238E27FC236}">
                <a16:creationId xmlns:a16="http://schemas.microsoft.com/office/drawing/2014/main" id="{586EECC9-E192-4015-9EEC-C651F05D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s20-text-4">
            <a:extLst xmlns:a="http://schemas.openxmlformats.org/drawingml/2006/main">
              <a:ext uri="{FF2B5EF4-FFF2-40B4-BE49-F238E27FC236}">
                <a16:creationId xmlns:a16="http://schemas.microsoft.com/office/drawing/2014/main" id="{3ED63CF0-869E-4F01-9C5A-A7D9A624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762000" cy="433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20-text-5">
            <a:extLst xmlns:a="http://schemas.openxmlformats.org/drawingml/2006/main">
              <a:ext uri="{FF2B5EF4-FFF2-40B4-BE49-F238E27FC236}">
                <a16:creationId xmlns:a16="http://schemas.microsoft.com/office/drawing/2014/main" id="{1BDD12FD-9CA6-40A6-8F9F-4176A997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19275"/>
            <a:ext cx="4048125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Filamento</a:t>
            </a:r>
          </a:p>
        </p:txBody>
      </p:sp>
      <p:sp>
        <p:nvSpPr>
          <p:cNvPr id="7" name="s20-text-6">
            <a:extLst xmlns:a="http://schemas.openxmlformats.org/drawingml/2006/main">
              <a:ext uri="{FF2B5EF4-FFF2-40B4-BE49-F238E27FC236}">
                <a16:creationId xmlns:a16="http://schemas.microsoft.com/office/drawing/2014/main" id="{6A0F6E78-DB6D-42A8-872B-392D7822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819275"/>
            <a:ext cx="5715000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Peça + suportes + bordas de adesão (brim) e</a:t>
            </a:r>
          </a:p>
        </p:txBody>
      </p:sp>
      <p:sp>
        <p:nvSpPr>
          <p:cNvPr id="8" name="s20-text-7">
            <a:extLst xmlns:a="http://schemas.openxmlformats.org/drawingml/2006/main">
              <a:ext uri="{FF2B5EF4-FFF2-40B4-BE49-F238E27FC236}">
                <a16:creationId xmlns:a16="http://schemas.microsoft.com/office/drawing/2014/main" id="{6C0532D5-29C8-4FFE-85F4-7F960F7B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135600"/>
            <a:ext cx="5715000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purga.</a:t>
            </a:r>
          </a:p>
        </p:txBody>
      </p:sp>
      <p:sp>
        <p:nvSpPr>
          <p:cNvPr id="9" name="s20-text-8">
            <a:extLst xmlns:a="http://schemas.openxmlformats.org/drawingml/2006/main">
              <a:ext uri="{FF2B5EF4-FFF2-40B4-BE49-F238E27FC236}">
                <a16:creationId xmlns:a16="http://schemas.microsoft.com/office/drawing/2014/main" id="{019BA0C3-DCD9-49B4-8E05-77F65339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762000" cy="433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s20-text-9">
            <a:extLst xmlns:a="http://schemas.openxmlformats.org/drawingml/2006/main">
              <a:ext uri="{FF2B5EF4-FFF2-40B4-BE49-F238E27FC236}">
                <a16:creationId xmlns:a16="http://schemas.microsoft.com/office/drawing/2014/main" id="{384430EA-6187-43EC-8F82-09FF56C0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19400"/>
            <a:ext cx="4048125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Energia e máquina</a:t>
            </a:r>
          </a:p>
        </p:txBody>
      </p:sp>
      <p:sp>
        <p:nvSpPr>
          <p:cNvPr id="11" name="s20-text-10">
            <a:extLst xmlns:a="http://schemas.openxmlformats.org/drawingml/2006/main">
              <a:ext uri="{FF2B5EF4-FFF2-40B4-BE49-F238E27FC236}">
                <a16:creationId xmlns:a16="http://schemas.microsoft.com/office/drawing/2014/main" id="{AAA6AE22-93CA-492C-8982-3AE16652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819400"/>
            <a:ext cx="5715000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Consumo durante o trabalho, manutenção e</a:t>
            </a:r>
          </a:p>
        </p:txBody>
      </p:sp>
      <p:sp>
        <p:nvSpPr>
          <p:cNvPr id="12" name="s20-text-11">
            <a:extLst xmlns:a="http://schemas.openxmlformats.org/drawingml/2006/main">
              <a:ext uri="{FF2B5EF4-FFF2-40B4-BE49-F238E27FC236}">
                <a16:creationId xmlns:a16="http://schemas.microsoft.com/office/drawing/2014/main" id="{591C47A7-AF20-408A-AD60-4F47FAE1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135725"/>
            <a:ext cx="5715000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desgaste.</a:t>
            </a:r>
          </a:p>
        </p:txBody>
      </p:sp>
      <p:sp>
        <p:nvSpPr>
          <p:cNvPr id="13" name="s20-text-12">
            <a:extLst xmlns:a="http://schemas.openxmlformats.org/drawingml/2006/main">
              <a:ext uri="{FF2B5EF4-FFF2-40B4-BE49-F238E27FC236}">
                <a16:creationId xmlns:a16="http://schemas.microsoft.com/office/drawing/2014/main" id="{6D6E638E-B5EF-4E39-A5D7-6CFAFA5C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762000" cy="433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s20-text-13">
            <a:extLst xmlns:a="http://schemas.openxmlformats.org/drawingml/2006/main">
              <a:ext uri="{FF2B5EF4-FFF2-40B4-BE49-F238E27FC236}">
                <a16:creationId xmlns:a16="http://schemas.microsoft.com/office/drawing/2014/main" id="{914A287D-4589-4D3A-B139-21C8319E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19525"/>
            <a:ext cx="4048125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Trabalho</a:t>
            </a:r>
          </a:p>
        </p:txBody>
      </p:sp>
      <p:sp>
        <p:nvSpPr>
          <p:cNvPr id="15" name="s20-text-14">
            <a:extLst xmlns:a="http://schemas.openxmlformats.org/drawingml/2006/main">
              <a:ext uri="{FF2B5EF4-FFF2-40B4-BE49-F238E27FC236}">
                <a16:creationId xmlns:a16="http://schemas.microsoft.com/office/drawing/2014/main" id="{2374AD8B-A436-4CE6-AEDE-37181479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819525"/>
            <a:ext cx="5715000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Tempo para desenhar, preparar, operar e</a:t>
            </a:r>
          </a:p>
        </p:txBody>
      </p:sp>
      <p:sp>
        <p:nvSpPr>
          <p:cNvPr id="16" name="s20-text-15">
            <a:extLst xmlns:a="http://schemas.openxmlformats.org/drawingml/2006/main">
              <a:ext uri="{FF2B5EF4-FFF2-40B4-BE49-F238E27FC236}">
                <a16:creationId xmlns:a16="http://schemas.microsoft.com/office/drawing/2014/main" id="{E36680E0-8CA1-4906-9413-5CC59B9E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135850"/>
            <a:ext cx="5715000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finalizar.</a:t>
            </a:r>
          </a:p>
        </p:txBody>
      </p:sp>
      <p:sp>
        <p:nvSpPr>
          <p:cNvPr id="17" name="s20-text-16">
            <a:extLst xmlns:a="http://schemas.openxmlformats.org/drawingml/2006/main">
              <a:ext uri="{FF2B5EF4-FFF2-40B4-BE49-F238E27FC236}">
                <a16:creationId xmlns:a16="http://schemas.microsoft.com/office/drawing/2014/main" id="{98B13018-F2BA-43B7-BB3C-1808906C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762000" cy="433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s20-text-17">
            <a:extLst xmlns:a="http://schemas.openxmlformats.org/drawingml/2006/main">
              <a:ext uri="{FF2B5EF4-FFF2-40B4-BE49-F238E27FC236}">
                <a16:creationId xmlns:a16="http://schemas.microsoft.com/office/drawing/2014/main" id="{40EA9C71-BF28-4A81-AF70-91AD434F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19650"/>
            <a:ext cx="4048125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Falhas e retrabalho</a:t>
            </a:r>
          </a:p>
        </p:txBody>
      </p:sp>
      <p:sp>
        <p:nvSpPr>
          <p:cNvPr id="19" name="s20-text-18">
            <a:extLst xmlns:a="http://schemas.openxmlformats.org/drawingml/2006/main">
              <a:ext uri="{FF2B5EF4-FFF2-40B4-BE49-F238E27FC236}">
                <a16:creationId xmlns:a16="http://schemas.microsoft.com/office/drawing/2014/main" id="{F07EA640-9666-4BD9-940D-3E50BE88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819650"/>
            <a:ext cx="5715000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Tentativas perdidas também consomem recursos.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7D320-2621-4EA7-AF88-1197953D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21" name="s20-text-19">
            <a:extLst xmlns:a="http://schemas.openxmlformats.org/drawingml/2006/main">
              <a:ext uri="{FF2B5EF4-FFF2-40B4-BE49-F238E27FC236}">
                <a16:creationId xmlns:a16="http://schemas.microsoft.com/office/drawing/2014/main" id="{B66F8740-C2DF-48DA-9D01-954BB934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81675"/>
            <a:ext cx="10563225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Imprimir mais barato que comprar depende do caso.</a:t>
            </a:r>
          </a:p>
        </p:txBody>
      </p:sp>
    </p:spTree>
    <p:extLst>
      <p:ext uri="{BB962C8B-B14F-4D97-AF65-F5344CB8AC3E}">
        <p14:creationId xmlns:p14="http://schemas.microsoft.com/office/powerpoint/2010/main" val="14267618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21-text-1">
            <a:extLst xmlns:a="http://schemas.openxmlformats.org/drawingml/2006/main">
              <a:ext uri="{FF2B5EF4-FFF2-40B4-BE49-F238E27FC236}">
                <a16:creationId xmlns:a16="http://schemas.microsoft.com/office/drawing/2014/main" id="{30B700A6-3E47-4E81-83F4-124AC57B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Faça a conta antes de imprimir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B9AE2-103D-4AD8-BACC-E3B73C6F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21-text-2">
            <a:extLst xmlns:a="http://schemas.openxmlformats.org/drawingml/2006/main">
              <a:ext uri="{FF2B5EF4-FFF2-40B4-BE49-F238E27FC236}">
                <a16:creationId xmlns:a16="http://schemas.microsoft.com/office/drawing/2014/main" id="{9B8C8785-BBE4-4C95-B947-35FFFAD9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Atividade em duplas | 10 min</a:t>
            </a:r>
          </a:p>
        </p:txBody>
      </p:sp>
      <p:sp>
        <p:nvSpPr>
          <p:cNvPr id="4" name="s21-text-3">
            <a:extLst xmlns:a="http://schemas.openxmlformats.org/drawingml/2006/main">
              <a:ext uri="{FF2B5EF4-FFF2-40B4-BE49-F238E27FC236}">
                <a16:creationId xmlns:a16="http://schemas.microsoft.com/office/drawing/2014/main" id="{B7ED4A55-5043-4D09-BFD2-1F593F8E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s21-text-4">
            <a:extLst xmlns:a="http://schemas.openxmlformats.org/drawingml/2006/main">
              <a:ext uri="{FF2B5EF4-FFF2-40B4-BE49-F238E27FC236}">
                <a16:creationId xmlns:a16="http://schemas.microsoft.com/office/drawing/2014/main" id="{5BD02967-3A1E-425B-AAE7-BD20FD53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47750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Peça: 25 g | Suportes: 5 g</a:t>
            </a:r>
          </a:p>
        </p:txBody>
      </p:sp>
      <p:sp>
        <p:nvSpPr>
          <p:cNvPr id="6" name="s21-text-5">
            <a:extLst xmlns:a="http://schemas.openxmlformats.org/drawingml/2006/main">
              <a:ext uri="{FF2B5EF4-FFF2-40B4-BE49-F238E27FC236}">
                <a16:creationId xmlns:a16="http://schemas.microsoft.com/office/drawing/2014/main" id="{E6CF906B-2089-42B1-B61D-CFE4FD13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6480"/>
            <a:ext cx="1047750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Filamento: R$ 100/kg</a:t>
            </a:r>
          </a:p>
        </p:txBody>
      </p:sp>
      <p:sp>
        <p:nvSpPr>
          <p:cNvPr id="7" name="s21-text-6">
            <a:extLst xmlns:a="http://schemas.openxmlformats.org/drawingml/2006/main">
              <a:ext uri="{FF2B5EF4-FFF2-40B4-BE49-F238E27FC236}">
                <a16:creationId xmlns:a16="http://schemas.microsoft.com/office/drawing/2014/main" id="{9831E0BF-D635-45E5-97EB-5E866FB5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" name="s21-text-7">
            <a:extLst xmlns:a="http://schemas.openxmlformats.org/drawingml/2006/main">
              <a:ext uri="{FF2B5EF4-FFF2-40B4-BE49-F238E27FC236}">
                <a16:creationId xmlns:a16="http://schemas.microsoft.com/office/drawing/2014/main" id="{4CA8ED28-5CB0-4C8F-B621-39D5F2C0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71825"/>
            <a:ext cx="101346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Qual é a massa total e o custo do material?</a:t>
            </a:r>
          </a:p>
        </p:txBody>
      </p:sp>
      <p:sp>
        <p:nvSpPr>
          <p:cNvPr id="9" name="s21-text-8">
            <a:extLst xmlns:a="http://schemas.openxmlformats.org/drawingml/2006/main">
              <a:ext uri="{FF2B5EF4-FFF2-40B4-BE49-F238E27FC236}">
                <a16:creationId xmlns:a16="http://schemas.microsoft.com/office/drawing/2014/main" id="{5706D397-7CF8-41BB-B004-11B62C2F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101346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Escreva a conta com as unidades.</a:t>
            </a:r>
          </a:p>
        </p:txBody>
      </p:sp>
      <p:sp>
        <p:nvSpPr>
          <p:cNvPr id="10" name="s21-text-9">
            <a:extLst xmlns:a="http://schemas.openxmlformats.org/drawingml/2006/main">
              <a:ext uri="{FF2B5EF4-FFF2-40B4-BE49-F238E27FC236}">
                <a16:creationId xmlns:a16="http://schemas.microsoft.com/office/drawing/2014/main" id="{7236BC13-71B2-4BC1-8E50-42A49900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1" name="s21-text-10">
            <a:extLst xmlns:a="http://schemas.openxmlformats.org/drawingml/2006/main">
              <a:ext uri="{FF2B5EF4-FFF2-40B4-BE49-F238E27FC236}">
                <a16:creationId xmlns:a16="http://schemas.microsoft.com/office/drawing/2014/main" id="{0E33AE27-FF6B-4018-A513-31001833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24325"/>
            <a:ext cx="101346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E se forem feitas duas tentativas completas?</a:t>
            </a:r>
          </a:p>
        </p:txBody>
      </p:sp>
      <p:sp>
        <p:nvSpPr>
          <p:cNvPr id="12" name="s21-text-11">
            <a:extLst xmlns:a="http://schemas.openxmlformats.org/drawingml/2006/main">
              <a:ext uri="{FF2B5EF4-FFF2-40B4-BE49-F238E27FC236}">
                <a16:creationId xmlns:a16="http://schemas.microsoft.com/office/drawing/2014/main" id="{F511D3BF-4DA8-4A8B-B655-AE1A0D55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101346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Na hipótese, ambas consomem a mesma massa.</a:t>
            </a:r>
          </a:p>
        </p:txBody>
      </p:sp>
      <p:sp>
        <p:nvSpPr>
          <p:cNvPr id="13" name="s21-text-12">
            <a:extLst xmlns:a="http://schemas.openxmlformats.org/drawingml/2006/main">
              <a:ext uri="{FF2B5EF4-FFF2-40B4-BE49-F238E27FC236}">
                <a16:creationId xmlns:a16="http://schemas.microsoft.com/office/drawing/2014/main" id="{C09439C1-3613-4BB0-AAA4-7B21B7D9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877550" cy="328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C Uma peça pronta custa R$ 6. Já dá para afirmar que imprimir é mais barato?</a:t>
            </a:r>
          </a:p>
        </p:txBody>
      </p:sp>
    </p:spTree>
    <p:extLst>
      <p:ext uri="{BB962C8B-B14F-4D97-AF65-F5344CB8AC3E}">
        <p14:creationId xmlns:p14="http://schemas.microsoft.com/office/powerpoint/2010/main" val="16688372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22-text-1">
            <a:extLst xmlns:a="http://schemas.openxmlformats.org/drawingml/2006/main">
              <a:ext uri="{FF2B5EF4-FFF2-40B4-BE49-F238E27FC236}">
                <a16:creationId xmlns:a16="http://schemas.microsoft.com/office/drawing/2014/main" id="{F651D72F-1D4D-44F3-8105-AC0A6F39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Conferindo o raciocínio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F90C9-0FC7-48B5-A142-B3215278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22-text-2">
            <a:extLst xmlns:a="http://schemas.openxmlformats.org/drawingml/2006/main">
              <a:ext uri="{FF2B5EF4-FFF2-40B4-BE49-F238E27FC236}">
                <a16:creationId xmlns:a16="http://schemas.microsoft.com/office/drawing/2014/main" id="{76FA52A5-92DA-4259-BA33-6646211F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Correção em grupo | 4 min</a:t>
            </a:r>
          </a:p>
        </p:txBody>
      </p:sp>
      <p:sp>
        <p:nvSpPr>
          <p:cNvPr id="4" name="s22-text-3">
            <a:extLst xmlns:a="http://schemas.openxmlformats.org/drawingml/2006/main">
              <a:ext uri="{FF2B5EF4-FFF2-40B4-BE49-F238E27FC236}">
                <a16:creationId xmlns:a16="http://schemas.microsoft.com/office/drawing/2014/main" id="{E130A22C-896E-4BDB-A92F-922E36BE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s22-text-4">
            <a:extLst xmlns:a="http://schemas.openxmlformats.org/drawingml/2006/main">
              <a:ext uri="{FF2B5EF4-FFF2-40B4-BE49-F238E27FC236}">
                <a16:creationId xmlns:a16="http://schemas.microsoft.com/office/drawing/2014/main" id="{0FB4DC35-E441-4EC4-A32D-50684C1F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4762500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30 g</a:t>
            </a:r>
          </a:p>
        </p:txBody>
      </p:sp>
      <p:sp>
        <p:nvSpPr>
          <p:cNvPr id="6" name="s22-text-5">
            <a:extLst xmlns:a="http://schemas.openxmlformats.org/drawingml/2006/main">
              <a:ext uri="{FF2B5EF4-FFF2-40B4-BE49-F238E27FC236}">
                <a16:creationId xmlns:a16="http://schemas.microsoft.com/office/drawing/2014/main" id="{5033B906-71C6-4A01-8BDF-96F4F0BE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5000625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25 g de peça + 5 g de suportes</a:t>
            </a:r>
          </a:p>
        </p:txBody>
      </p:sp>
      <p:sp>
        <p:nvSpPr>
          <p:cNvPr id="7" name="s22-text-6">
            <a:extLst xmlns:a="http://schemas.openxmlformats.org/drawingml/2006/main">
              <a:ext uri="{FF2B5EF4-FFF2-40B4-BE49-F238E27FC236}">
                <a16:creationId xmlns:a16="http://schemas.microsoft.com/office/drawing/2014/main" id="{EE576B96-8CBC-48D0-96ED-F5B6221A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95475"/>
            <a:ext cx="4953000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R$ 3,00</a:t>
            </a:r>
          </a:p>
        </p:txBody>
      </p:sp>
      <p:sp>
        <p:nvSpPr>
          <p:cNvPr id="8" name="s22-text-7">
            <a:extLst xmlns:a="http://schemas.openxmlformats.org/drawingml/2006/main">
              <a:ext uri="{FF2B5EF4-FFF2-40B4-BE49-F238E27FC236}">
                <a16:creationId xmlns:a16="http://schemas.microsoft.com/office/drawing/2014/main" id="{819FF650-3F81-4475-8151-82EA13FD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62275"/>
            <a:ext cx="4933950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30 x R$ 100 / 1.000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44BCE-C910-41B5-BC56-4666AA40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10" name="s22-text-8">
            <a:extLst xmlns:a="http://schemas.openxmlformats.org/drawingml/2006/main">
              <a:ext uri="{FF2B5EF4-FFF2-40B4-BE49-F238E27FC236}">
                <a16:creationId xmlns:a16="http://schemas.microsoft.com/office/drawing/2014/main" id="{2239072E-81A8-4275-B663-FEF2DB5A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06125" cy="386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Duas tentativas completas: 60 g e R$ 6,00 de material.</a:t>
            </a:r>
          </a:p>
        </p:txBody>
      </p:sp>
      <p:sp>
        <p:nvSpPr>
          <p:cNvPr id="11" name="s22-text-9">
            <a:extLst xmlns:a="http://schemas.openxmlformats.org/drawingml/2006/main">
              <a:ext uri="{FF2B5EF4-FFF2-40B4-BE49-F238E27FC236}">
                <a16:creationId xmlns:a16="http://schemas.microsoft.com/office/drawing/2014/main" id="{301641B9-9C11-469C-A91C-33B972D7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810875" cy="363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A comparação com a peça pronta ainda precisa dos outros custos.</a:t>
            </a:r>
          </a:p>
        </p:txBody>
      </p:sp>
    </p:spTree>
    <p:extLst>
      <p:ext uri="{BB962C8B-B14F-4D97-AF65-F5344CB8AC3E}">
        <p14:creationId xmlns:p14="http://schemas.microsoft.com/office/powerpoint/2010/main" val="19676919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23-text-1">
            <a:extLst xmlns:a="http://schemas.openxmlformats.org/drawingml/2006/main">
              <a:ext uri="{FF2B5EF4-FFF2-40B4-BE49-F238E27FC236}">
                <a16:creationId xmlns:a16="http://schemas.microsoft.com/office/drawing/2014/main" id="{6481D18D-D243-403C-A3BB-499B56CA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A Creality K1C da nossa turma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3CEF6-89B4-4A6D-A844-9028D06D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23-text-2">
            <a:extLst xmlns:a="http://schemas.openxmlformats.org/drawingml/2006/main">
              <a:ext uri="{FF2B5EF4-FFF2-40B4-BE49-F238E27FC236}">
                <a16:creationId xmlns:a16="http://schemas.microsoft.com/office/drawing/2014/main" id="{262546EB-AEB1-4645-8003-D5D4470C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Demonstração guiada | 125-160 min</a:t>
            </a:r>
          </a:p>
        </p:txBody>
      </p:sp>
      <p:sp>
        <p:nvSpPr>
          <p:cNvPr id="4" name="s23-text-3">
            <a:extLst xmlns:a="http://schemas.openxmlformats.org/drawingml/2006/main">
              <a:ext uri="{FF2B5EF4-FFF2-40B4-BE49-F238E27FC236}">
                <a16:creationId xmlns:a16="http://schemas.microsoft.com/office/drawing/2014/main" id="{CCD9D92D-EA0E-48DB-9555-A7CDFCF2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s23-text-4">
            <a:extLst xmlns:a="http://schemas.openxmlformats.org/drawingml/2006/main">
              <a:ext uri="{FF2B5EF4-FFF2-40B4-BE49-F238E27FC236}">
                <a16:creationId xmlns:a16="http://schemas.microsoft.com/office/drawing/2014/main" id="{0D79A8E3-0579-4F22-A80A-1326D582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06125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220 x 220 x 250 mm</a:t>
            </a:r>
          </a:p>
        </p:txBody>
      </p:sp>
      <p:sp>
        <p:nvSpPr>
          <p:cNvPr id="6" name="s23-text-5">
            <a:extLst xmlns:a="http://schemas.openxmlformats.org/drawingml/2006/main">
              <a:ext uri="{FF2B5EF4-FFF2-40B4-BE49-F238E27FC236}">
                <a16:creationId xmlns:a16="http://schemas.microsoft.com/office/drawing/2014/main" id="{C9F8DDA8-9D8F-46FE-AA2E-D005CCB9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95250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Volume nominal de construção</a:t>
            </a:r>
          </a:p>
        </p:txBody>
      </p:sp>
      <p:sp>
        <p:nvSpPr>
          <p:cNvPr id="7" name="s23-text-6">
            <a:extLst xmlns:a="http://schemas.openxmlformats.org/drawingml/2006/main">
              <a:ext uri="{FF2B5EF4-FFF2-40B4-BE49-F238E27FC236}">
                <a16:creationId xmlns:a16="http://schemas.microsoft.com/office/drawing/2014/main" id="{F02A3714-27AE-4C8E-9A72-C511DBF8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s23-text-7">
            <a:extLst xmlns:a="http://schemas.openxmlformats.org/drawingml/2006/main">
              <a:ext uri="{FF2B5EF4-FFF2-40B4-BE49-F238E27FC236}">
                <a16:creationId xmlns:a16="http://schemas.microsoft.com/office/drawing/2014/main" id="{19993BC2-A6E2-486B-9914-8B45CD8C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101346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Extrusão de filamento</a:t>
            </a:r>
          </a:p>
        </p:txBody>
      </p:sp>
      <p:sp>
        <p:nvSpPr>
          <p:cNvPr id="9" name="s23-text-8">
            <a:extLst xmlns:a="http://schemas.openxmlformats.org/drawingml/2006/main">
              <a:ext uri="{FF2B5EF4-FFF2-40B4-BE49-F238E27FC236}">
                <a16:creationId xmlns:a16="http://schemas.microsoft.com/office/drawing/2014/main" id="{BF520D03-39F4-4B39-8C38-9BD369DD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81450"/>
            <a:ext cx="101346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O material passa pelo conjunto extrusor e pelo bico aquecido.</a:t>
            </a:r>
          </a:p>
        </p:txBody>
      </p:sp>
      <p:sp>
        <p:nvSpPr>
          <p:cNvPr id="10" name="s23-text-9">
            <a:extLst xmlns:a="http://schemas.openxmlformats.org/drawingml/2006/main">
              <a:ext uri="{FF2B5EF4-FFF2-40B4-BE49-F238E27FC236}">
                <a16:creationId xmlns:a16="http://schemas.microsoft.com/office/drawing/2014/main" id="{2A8F7C08-BC2F-4AE0-950A-7E112C0E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s23-text-10">
            <a:extLst xmlns:a="http://schemas.openxmlformats.org/drawingml/2006/main">
              <a:ext uri="{FF2B5EF4-FFF2-40B4-BE49-F238E27FC236}">
                <a16:creationId xmlns:a16="http://schemas.microsoft.com/office/drawing/2014/main" id="{F4D018E7-D990-4309-B517-D1D67B1D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76775"/>
            <a:ext cx="101346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Nivelamento automático</a:t>
            </a:r>
          </a:p>
        </p:txBody>
      </p:sp>
      <p:sp>
        <p:nvSpPr>
          <p:cNvPr id="12" name="s23-text-11">
            <a:extLst xmlns:a="http://schemas.openxmlformats.org/drawingml/2006/main">
              <a:ext uri="{FF2B5EF4-FFF2-40B4-BE49-F238E27FC236}">
                <a16:creationId xmlns:a16="http://schemas.microsoft.com/office/drawing/2014/main" id="{DF952363-5E6E-4446-A520-8ADE026E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76825"/>
            <a:ext cx="101346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Ainda precisamos conferir preparação, perfil e primeira camada.</a:t>
            </a:r>
          </a:p>
        </p:txBody>
      </p:sp>
    </p:spTree>
    <p:extLst>
      <p:ext uri="{BB962C8B-B14F-4D97-AF65-F5344CB8AC3E}">
        <p14:creationId xmlns:p14="http://schemas.microsoft.com/office/powerpoint/2010/main" val="89429971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24-text-1">
            <a:extLst xmlns:a="http://schemas.openxmlformats.org/drawingml/2006/main">
              <a:ext uri="{FF2B5EF4-FFF2-40B4-BE49-F238E27FC236}">
                <a16:creationId xmlns:a16="http://schemas.microsoft.com/office/drawing/2014/main" id="{EBE5B0CA-D086-4026-BAAC-4A24CA5E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Localize as partes antes de observar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359E2-0748-4BF0-A074-A460ADFD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24-text-2">
            <a:extLst xmlns:a="http://schemas.openxmlformats.org/drawingml/2006/main">
              <a:ext uri="{FF2B5EF4-FFF2-40B4-BE49-F238E27FC236}">
                <a16:creationId xmlns:a16="http://schemas.microsoft.com/office/drawing/2014/main" id="{7D6AE8FE-D7C1-47FB-8BE5-4C5D5879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Demonstração guiada | 125-160 min</a:t>
            </a:r>
          </a:p>
        </p:txBody>
      </p:sp>
      <p:sp>
        <p:nvSpPr>
          <p:cNvPr id="4" name="s24-text-3">
            <a:extLst xmlns:a="http://schemas.openxmlformats.org/drawingml/2006/main">
              <a:ext uri="{FF2B5EF4-FFF2-40B4-BE49-F238E27FC236}">
                <a16:creationId xmlns:a16="http://schemas.microsoft.com/office/drawing/2014/main" id="{36B7B6B6-79F1-4411-B14A-93F61248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f54db3e384903"/>
          <a:stretch xmlns:a="http://schemas.openxmlformats.org/drawingml/2006/main"/>
        </p:blipFill>
        <p:spPr>
          <a:xfrm xmlns:a="http://schemas.openxmlformats.org/drawingml/2006/main">
            <a:off x="1129143" y="1647825"/>
            <a:ext cx="9914663" cy="3933825"/>
          </a:xfrm>
          <a:prstGeom xmlns:a="http://schemas.openxmlformats.org/drawingml/2006/main" prst="rect">
            <a:avLst/>
          </a:prstGeom>
        </p:spPr>
      </p:pic>
      <p:sp>
        <p:nvSpPr>
          <p:cNvPr id="6" name="s24-text-4">
            <a:extLst xmlns:a="http://schemas.openxmlformats.org/drawingml/2006/main">
              <a:ext uri="{FF2B5EF4-FFF2-40B4-BE49-F238E27FC236}">
                <a16:creationId xmlns:a16="http://schemas.microsoft.com/office/drawing/2014/main" id="{F4F47DB8-0AE2-4894-B096-892175A2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887075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Identifique: bobina e entrada do filamento, extrusor/bico, mesa e tela.</a:t>
            </a:r>
          </a:p>
        </p:txBody>
      </p:sp>
      <p:sp>
        <p:nvSpPr>
          <p:cNvPr id="7" name="s24-text-5">
            <a:extLst xmlns:a="http://schemas.openxmlformats.org/drawingml/2006/main">
              <a:ext uri="{FF2B5EF4-FFF2-40B4-BE49-F238E27FC236}">
                <a16:creationId xmlns:a16="http://schemas.microsoft.com/office/drawing/2014/main" id="{AEED2209-FD6E-44A7-9BBE-8B4851AE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668000" cy="199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Ilustração: manual Creality. Os nomes originais estão em inglês.</a:t>
            </a:r>
          </a:p>
        </p:txBody>
      </p:sp>
    </p:spTree>
    <p:extLst>
      <p:ext uri="{BB962C8B-B14F-4D97-AF65-F5344CB8AC3E}">
        <p14:creationId xmlns:p14="http://schemas.microsoft.com/office/powerpoint/2010/main" val="14266650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25-text-1">
            <a:extLst xmlns:a="http://schemas.openxmlformats.org/drawingml/2006/main">
              <a:ext uri="{FF2B5EF4-FFF2-40B4-BE49-F238E27FC236}">
                <a16:creationId xmlns:a16="http://schemas.microsoft.com/office/drawing/2014/main" id="{F9199BF5-253E-49D4-9FDB-3B4D42A1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O professor prepara; a turma confere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84C39-4B91-40B6-92E6-AAF2384E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25-text-2">
            <a:extLst xmlns:a="http://schemas.openxmlformats.org/drawingml/2006/main">
              <a:ext uri="{FF2B5EF4-FFF2-40B4-BE49-F238E27FC236}">
                <a16:creationId xmlns:a16="http://schemas.microsoft.com/office/drawing/2014/main" id="{EC5E2317-DA84-4236-8C3D-9525C2A0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Demonstração guiada | 125-160 min</a:t>
            </a:r>
          </a:p>
        </p:txBody>
      </p:sp>
      <p:sp>
        <p:nvSpPr>
          <p:cNvPr id="4" name="s25-text-3">
            <a:extLst xmlns:a="http://schemas.openxmlformats.org/drawingml/2006/main">
              <a:ext uri="{FF2B5EF4-FFF2-40B4-BE49-F238E27FC236}">
                <a16:creationId xmlns:a16="http://schemas.microsoft.com/office/drawing/2014/main" id="{92A1215E-58AA-43D4-B84B-A6BF2D45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s25-text-4">
            <a:extLst xmlns:a="http://schemas.openxmlformats.org/drawingml/2006/main">
              <a:ext uri="{FF2B5EF4-FFF2-40B4-BE49-F238E27FC236}">
                <a16:creationId xmlns:a16="http://schemas.microsoft.com/office/drawing/2014/main" id="{1131BC36-31F6-4E60-99C3-14E103AA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25-text-5">
            <a:extLst xmlns:a="http://schemas.openxmlformats.org/drawingml/2006/main">
              <a:ext uri="{FF2B5EF4-FFF2-40B4-BE49-F238E27FC236}">
                <a16:creationId xmlns:a16="http://schemas.microsoft.com/office/drawing/2014/main" id="{E4C85C9A-AF9F-426E-845A-1A59756D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76425"/>
            <a:ext cx="101346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Verificar a preparação</a:t>
            </a:r>
          </a:p>
        </p:txBody>
      </p:sp>
      <p:sp>
        <p:nvSpPr>
          <p:cNvPr id="7" name="s25-text-6">
            <a:extLst xmlns:a="http://schemas.openxmlformats.org/drawingml/2006/main">
              <a:ext uri="{FF2B5EF4-FFF2-40B4-BE49-F238E27FC236}">
                <a16:creationId xmlns:a16="http://schemas.microsoft.com/office/drawing/2014/main" id="{82B74E1D-4E0C-41B4-B08A-E424F7E9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76475"/>
            <a:ext cx="101346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Máquina, filamento, mesa e área de observação.</a:t>
            </a:r>
          </a:p>
        </p:txBody>
      </p:sp>
      <p:sp>
        <p:nvSpPr>
          <p:cNvPr id="8" name="s25-text-7">
            <a:extLst xmlns:a="http://schemas.openxmlformats.org/drawingml/2006/main">
              <a:ext uri="{FF2B5EF4-FFF2-40B4-BE49-F238E27FC236}">
                <a16:creationId xmlns:a16="http://schemas.microsoft.com/office/drawing/2014/main" id="{98B51DF7-8A73-4F9E-83F7-5B911DCD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25-text-8">
            <a:extLst xmlns:a="http://schemas.openxmlformats.org/drawingml/2006/main">
              <a:ext uri="{FF2B5EF4-FFF2-40B4-BE49-F238E27FC236}">
                <a16:creationId xmlns:a16="http://schemas.microsoft.com/office/drawing/2014/main" id="{36D06E1B-3B3C-47F5-812C-404CDB21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86100"/>
            <a:ext cx="101346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Conferir no fatiador</a:t>
            </a:r>
          </a:p>
        </p:txBody>
      </p:sp>
      <p:sp>
        <p:nvSpPr>
          <p:cNvPr id="10" name="s25-text-9">
            <a:extLst xmlns:a="http://schemas.openxmlformats.org/drawingml/2006/main">
              <a:ext uri="{FF2B5EF4-FFF2-40B4-BE49-F238E27FC236}">
                <a16:creationId xmlns:a16="http://schemas.microsoft.com/office/drawing/2014/main" id="{E1482615-A64F-4437-AD5A-D01CE2DE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86150"/>
            <a:ext cx="101346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Dimensões, perfil da K1C, material e prévia das camadas.</a:t>
            </a:r>
          </a:p>
        </p:txBody>
      </p:sp>
      <p:sp>
        <p:nvSpPr>
          <p:cNvPr id="11" name="s25-text-10">
            <a:extLst xmlns:a="http://schemas.openxmlformats.org/drawingml/2006/main">
              <a:ext uri="{FF2B5EF4-FFF2-40B4-BE49-F238E27FC236}">
                <a16:creationId xmlns:a16="http://schemas.microsoft.com/office/drawing/2014/main" id="{EC06125B-30A7-4DA1-9216-0B3EBA35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s25-text-11">
            <a:extLst xmlns:a="http://schemas.openxmlformats.org/drawingml/2006/main">
              <a:ext uri="{FF2B5EF4-FFF2-40B4-BE49-F238E27FC236}">
                <a16:creationId xmlns:a16="http://schemas.microsoft.com/office/drawing/2014/main" id="{7CD8B334-4650-4769-A99A-3A0E0D75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95775"/>
            <a:ext cx="101346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Anotar e iniciar</a:t>
            </a:r>
          </a:p>
        </p:txBody>
      </p:sp>
      <p:sp>
        <p:nvSpPr>
          <p:cNvPr id="13" name="s25-text-12">
            <a:extLst xmlns:a="http://schemas.openxmlformats.org/drawingml/2006/main">
              <a:ext uri="{FF2B5EF4-FFF2-40B4-BE49-F238E27FC236}">
                <a16:creationId xmlns:a16="http://schemas.microsoft.com/office/drawing/2014/main" id="{D71BA9F8-8C19-4C73-A436-A7DDB1C1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95825"/>
            <a:ext cx="101346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Registrar massa e tempo estimados; enviar o arquivo validado.</a:t>
            </a:r>
          </a:p>
        </p:txBody>
      </p:sp>
      <p:sp>
        <p:nvSpPr>
          <p:cNvPr id="14" name="s25-text-13">
            <a:extLst xmlns:a="http://schemas.openxmlformats.org/drawingml/2006/main">
              <a:ext uri="{FF2B5EF4-FFF2-40B4-BE49-F238E27FC236}">
                <a16:creationId xmlns:a16="http://schemas.microsoft.com/office/drawing/2014/main" id="{77F2530A-FD9E-4617-8678-214EAA95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06125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Temperatura e velocidade vêm de um perfil validado para o material.</a:t>
            </a:r>
          </a:p>
        </p:txBody>
      </p:sp>
    </p:spTree>
    <p:extLst>
      <p:ext uri="{BB962C8B-B14F-4D97-AF65-F5344CB8AC3E}">
        <p14:creationId xmlns:p14="http://schemas.microsoft.com/office/powerpoint/2010/main" val="3570508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26-text-1">
            <a:extLst xmlns:a="http://schemas.openxmlformats.org/drawingml/2006/main">
              <a:ext uri="{FF2B5EF4-FFF2-40B4-BE49-F238E27FC236}">
                <a16:creationId xmlns:a16="http://schemas.microsoft.com/office/drawing/2014/main" id="{B21AE174-D944-48B8-9D2E-A17852C0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Primeira camada: observar antes de continuar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4F206-5D91-4E4A-8B9B-27EDBFFF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26-text-2">
            <a:extLst xmlns:a="http://schemas.openxmlformats.org/drawingml/2006/main">
              <a:ext uri="{FF2B5EF4-FFF2-40B4-BE49-F238E27FC236}">
                <a16:creationId xmlns:a16="http://schemas.microsoft.com/office/drawing/2014/main" id="{69582875-DB2F-4794-B929-3FBB5F7E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Demonstração guiada | 125-160 min</a:t>
            </a:r>
          </a:p>
        </p:txBody>
      </p:sp>
      <p:sp>
        <p:nvSpPr>
          <p:cNvPr id="4" name="s26-text-3">
            <a:extLst xmlns:a="http://schemas.openxmlformats.org/drawingml/2006/main">
              <a:ext uri="{FF2B5EF4-FFF2-40B4-BE49-F238E27FC236}">
                <a16:creationId xmlns:a16="http://schemas.microsoft.com/office/drawing/2014/main" id="{00393EC6-3108-444C-B4C7-898DEED3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e66ef2d394a09"/>
          <a:stretch xmlns:a="http://schemas.openxmlformats.org/drawingml/2006/main"/>
        </p:blipFill>
        <p:spPr>
          <a:xfrm xmlns:a="http://schemas.openxmlformats.org/drawingml/2006/main">
            <a:off x="1878692" y="1743075"/>
            <a:ext cx="8415566" cy="3343275"/>
          </a:xfrm>
          <a:prstGeom xmlns:a="http://schemas.openxmlformats.org/drawingml/2006/main" prst="rect">
            <a:avLst/>
          </a:prstGeom>
        </p:spPr>
      </p:pic>
      <p:sp>
        <p:nvSpPr>
          <p:cNvPr id="6" name="s26-text-4">
            <a:extLst xmlns:a="http://schemas.openxmlformats.org/drawingml/2006/main">
              <a:ext uri="{FF2B5EF4-FFF2-40B4-BE49-F238E27FC236}">
                <a16:creationId xmlns:a16="http://schemas.microsoft.com/office/drawing/2014/main" id="{D899985A-52DD-4506-B1BC-7FBC5F7B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3248025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Linhas separadas</a:t>
            </a:r>
          </a:p>
        </p:txBody>
      </p:sp>
      <p:sp>
        <p:nvSpPr>
          <p:cNvPr id="7" name="s26-text-5">
            <a:extLst xmlns:a="http://schemas.openxmlformats.org/drawingml/2006/main">
              <a:ext uri="{FF2B5EF4-FFF2-40B4-BE49-F238E27FC236}">
                <a16:creationId xmlns:a16="http://schemas.microsoft.com/office/drawing/2014/main" id="{33388492-5D96-4CCA-A155-70B13584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276850"/>
            <a:ext cx="3381375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Superfície uniforme</a:t>
            </a:r>
          </a:p>
        </p:txBody>
      </p:sp>
      <p:sp>
        <p:nvSpPr>
          <p:cNvPr id="8" name="s26-text-6">
            <a:extLst xmlns:a="http://schemas.openxmlformats.org/drawingml/2006/main">
              <a:ext uri="{FF2B5EF4-FFF2-40B4-BE49-F238E27FC236}">
                <a16:creationId xmlns:a16="http://schemas.microsoft.com/office/drawing/2014/main" id="{A62CA84A-2D0C-4139-BF11-F2CEBBCE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276850"/>
            <a:ext cx="3333750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Sulcos e excesso</a:t>
            </a:r>
          </a:p>
        </p:txBody>
      </p:sp>
      <p:sp>
        <p:nvSpPr>
          <p:cNvPr id="9" name="s26-text-7">
            <a:extLst xmlns:a="http://schemas.openxmlformats.org/drawingml/2006/main">
              <a:ext uri="{FF2B5EF4-FFF2-40B4-BE49-F238E27FC236}">
                <a16:creationId xmlns:a16="http://schemas.microsoft.com/office/drawing/2014/main" id="{0CD015A0-DEAE-4982-BF4A-8F9EDCE6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347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Observe adesão e continuidade. Quem ajusta ou interrompe é o professor.</a:t>
            </a:r>
          </a:p>
        </p:txBody>
      </p:sp>
      <p:sp>
        <p:nvSpPr>
          <p:cNvPr id="10" name="s26-text-8">
            <a:extLst xmlns:a="http://schemas.openxmlformats.org/drawingml/2006/main">
              <a:ext uri="{FF2B5EF4-FFF2-40B4-BE49-F238E27FC236}">
                <a16:creationId xmlns:a16="http://schemas.microsoft.com/office/drawing/2014/main" id="{241966FE-55E7-406D-B8B1-C2B0EFE3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66800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Imagem: Prusa. Referência visual, não procedimento de ajuste da K1C.</a:t>
            </a:r>
          </a:p>
        </p:txBody>
      </p:sp>
    </p:spTree>
    <p:extLst>
      <p:ext uri="{BB962C8B-B14F-4D97-AF65-F5344CB8AC3E}">
        <p14:creationId xmlns:p14="http://schemas.microsoft.com/office/powerpoint/2010/main" val="104438860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27-text-1">
            <a:extLst xmlns:a="http://schemas.openxmlformats.org/drawingml/2006/main">
              <a:ext uri="{FF2B5EF4-FFF2-40B4-BE49-F238E27FC236}">
                <a16:creationId xmlns:a16="http://schemas.microsoft.com/office/drawing/2014/main" id="{171D1CBD-2D45-49E0-AF23-F304E385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Depois de imprimir, ainda precisamos avaliar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080FE-096A-4198-AE08-9B0AFE75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27-text-2">
            <a:extLst xmlns:a="http://schemas.openxmlformats.org/drawingml/2006/main">
              <a:ext uri="{FF2B5EF4-FFF2-40B4-BE49-F238E27FC236}">
                <a16:creationId xmlns:a16="http://schemas.microsoft.com/office/drawing/2014/main" id="{A95AB853-9276-4977-BE76-69C5B58C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Demonstração guiada | 125-160 min</a:t>
            </a:r>
          </a:p>
        </p:txBody>
      </p:sp>
      <p:sp>
        <p:nvSpPr>
          <p:cNvPr id="4" name="s27-text-3">
            <a:extLst xmlns:a="http://schemas.openxmlformats.org/drawingml/2006/main">
              <a:ext uri="{FF2B5EF4-FFF2-40B4-BE49-F238E27FC236}">
                <a16:creationId xmlns:a16="http://schemas.microsoft.com/office/drawing/2014/main" id="{9542A2D0-119A-4CBC-ABB7-EDC2F61E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s27-text-4">
            <a:extLst xmlns:a="http://schemas.openxmlformats.org/drawingml/2006/main">
              <a:ext uri="{FF2B5EF4-FFF2-40B4-BE49-F238E27FC236}">
                <a16:creationId xmlns:a16="http://schemas.microsoft.com/office/drawing/2014/main" id="{F1465C81-AFC4-4CE0-8359-5CA47B90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27-text-5">
            <a:extLst xmlns:a="http://schemas.openxmlformats.org/drawingml/2006/main">
              <a:ext uri="{FF2B5EF4-FFF2-40B4-BE49-F238E27FC236}">
                <a16:creationId xmlns:a16="http://schemas.microsoft.com/office/drawing/2014/main" id="{8457DED7-CDED-4983-ADFA-41E16B65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14525"/>
            <a:ext cx="101346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Esperar e retirar com cuidado</a:t>
            </a:r>
          </a:p>
        </p:txBody>
      </p:sp>
      <p:sp>
        <p:nvSpPr>
          <p:cNvPr id="7" name="s27-text-6">
            <a:extLst xmlns:a="http://schemas.openxmlformats.org/drawingml/2006/main">
              <a:ext uri="{FF2B5EF4-FFF2-40B4-BE49-F238E27FC236}">
                <a16:creationId xmlns:a16="http://schemas.microsoft.com/office/drawing/2014/main" id="{9CCB67C8-737B-4496-97B1-008543E3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14575"/>
            <a:ext cx="101346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Resfriamento e remoção ficam sob orientação do professor.</a:t>
            </a:r>
          </a:p>
        </p:txBody>
      </p:sp>
      <p:sp>
        <p:nvSpPr>
          <p:cNvPr id="8" name="s27-text-7">
            <a:extLst xmlns:a="http://schemas.openxmlformats.org/drawingml/2006/main">
              <a:ext uri="{FF2B5EF4-FFF2-40B4-BE49-F238E27FC236}">
                <a16:creationId xmlns:a16="http://schemas.microsoft.com/office/drawing/2014/main" id="{79F9AF15-0B2C-48A0-861C-598D1A86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27-text-8">
            <a:extLst xmlns:a="http://schemas.openxmlformats.org/drawingml/2006/main">
              <a:ext uri="{FF2B5EF4-FFF2-40B4-BE49-F238E27FC236}">
                <a16:creationId xmlns:a16="http://schemas.microsoft.com/office/drawing/2014/main" id="{B8C82B39-0839-44AB-A6DA-633F844D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101346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Comparar com o objetivo</a:t>
            </a:r>
          </a:p>
        </p:txBody>
      </p:sp>
      <p:sp>
        <p:nvSpPr>
          <p:cNvPr id="10" name="s27-text-9">
            <a:extLst xmlns:a="http://schemas.openxmlformats.org/drawingml/2006/main">
              <a:ext uri="{FF2B5EF4-FFF2-40B4-BE49-F238E27FC236}">
                <a16:creationId xmlns:a16="http://schemas.microsoft.com/office/drawing/2014/main" id="{585B0363-4909-4C8D-BA90-44DB10C5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101346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A peça tem a forma, as medidas e a função esperadas?</a:t>
            </a:r>
          </a:p>
        </p:txBody>
      </p:sp>
      <p:sp>
        <p:nvSpPr>
          <p:cNvPr id="11" name="s27-text-10">
            <a:extLst xmlns:a="http://schemas.openxmlformats.org/drawingml/2006/main">
              <a:ext uri="{FF2B5EF4-FFF2-40B4-BE49-F238E27FC236}">
                <a16:creationId xmlns:a16="http://schemas.microsoft.com/office/drawing/2014/main" id="{ECCC7C88-0F00-4C65-A7E8-0E840446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s27-text-11">
            <a:extLst xmlns:a="http://schemas.openxmlformats.org/drawingml/2006/main">
              <a:ext uri="{FF2B5EF4-FFF2-40B4-BE49-F238E27FC236}">
                <a16:creationId xmlns:a16="http://schemas.microsoft.com/office/drawing/2014/main" id="{4F4C635D-EFF2-4204-B3E9-C104D635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71975"/>
            <a:ext cx="101346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Registrar uma melhoria</a:t>
            </a:r>
          </a:p>
        </p:txBody>
      </p:sp>
      <p:sp>
        <p:nvSpPr>
          <p:cNvPr id="13" name="s27-text-12">
            <a:extLst xmlns:a="http://schemas.openxmlformats.org/drawingml/2006/main">
              <a:ext uri="{FF2B5EF4-FFF2-40B4-BE49-F238E27FC236}">
                <a16:creationId xmlns:a16="http://schemas.microsoft.com/office/drawing/2014/main" id="{98D97D79-1C78-4141-8495-A67EDC61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72025"/>
            <a:ext cx="101346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O que testaríamos de outro jeito na próxima versão?</a:t>
            </a:r>
          </a:p>
        </p:txBody>
      </p:sp>
    </p:spTree>
    <p:extLst>
      <p:ext uri="{BB962C8B-B14F-4D97-AF65-F5344CB8AC3E}">
        <p14:creationId xmlns:p14="http://schemas.microsoft.com/office/powerpoint/2010/main" val="75638529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28-text-1">
            <a:extLst xmlns:a="http://schemas.openxmlformats.org/drawingml/2006/main">
              <a:ext uri="{FF2B5EF4-FFF2-40B4-BE49-F238E27FC236}">
                <a16:creationId xmlns:a16="http://schemas.microsoft.com/office/drawing/2014/main" id="{9B347914-4854-4ADB-B727-D7C85D69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Esboce uma peça pequena e útil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51676-64C9-442C-9631-AAE13655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28-text-2">
            <a:extLst xmlns:a="http://schemas.openxmlformats.org/drawingml/2006/main">
              <a:ext uri="{FF2B5EF4-FFF2-40B4-BE49-F238E27FC236}">
                <a16:creationId xmlns:a16="http://schemas.microsoft.com/office/drawing/2014/main" id="{8C5AC437-1801-419A-B634-AACC6F95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Projeto em dupla ou trio | 10 min</a:t>
            </a:r>
          </a:p>
        </p:txBody>
      </p:sp>
      <p:sp>
        <p:nvSpPr>
          <p:cNvPr id="4" name="s28-text-3">
            <a:extLst xmlns:a="http://schemas.openxmlformats.org/drawingml/2006/main">
              <a:ext uri="{FF2B5EF4-FFF2-40B4-BE49-F238E27FC236}">
                <a16:creationId xmlns:a16="http://schemas.microsoft.com/office/drawing/2014/main" id="{554F25F8-3835-422B-AAE6-0BCFE67B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s28-text-4">
            <a:extLst xmlns:a="http://schemas.openxmlformats.org/drawingml/2006/main">
              <a:ext uri="{FF2B5EF4-FFF2-40B4-BE49-F238E27FC236}">
                <a16:creationId xmlns:a16="http://schemas.microsoft.com/office/drawing/2014/main" id="{364B509C-4D6E-4815-8B7D-936347C9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953000" cy="597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Para quem?</a:t>
            </a:r>
          </a:p>
        </p:txBody>
      </p:sp>
      <p:sp>
        <p:nvSpPr>
          <p:cNvPr id="6" name="s28-text-5">
            <a:extLst xmlns:a="http://schemas.openxmlformats.org/drawingml/2006/main">
              <a:ext uri="{FF2B5EF4-FFF2-40B4-BE49-F238E27FC236}">
                <a16:creationId xmlns:a16="http://schemas.microsoft.com/office/drawing/2014/main" id="{DB919ED2-990A-41E9-A206-92493555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0603"/>
            <a:ext cx="4953000" cy="597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Para resolver o quê?</a:t>
            </a:r>
          </a:p>
        </p:txBody>
      </p:sp>
      <p:sp>
        <p:nvSpPr>
          <p:cNvPr id="7" name="s28-text-6">
            <a:extLst xmlns:a="http://schemas.openxmlformats.org/drawingml/2006/main">
              <a:ext uri="{FF2B5EF4-FFF2-40B4-BE49-F238E27FC236}">
                <a16:creationId xmlns:a16="http://schemas.microsoft.com/office/drawing/2014/main" id="{4585632C-442B-4A34-B5D4-8D810B76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867275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Pode ser um identificador,</a:t>
            </a:r>
          </a:p>
        </p:txBody>
      </p:sp>
      <p:sp>
        <p:nvSpPr>
          <p:cNvPr id="8" name="s28-text-7">
            <a:extLst xmlns:a="http://schemas.openxmlformats.org/drawingml/2006/main">
              <a:ext uri="{FF2B5EF4-FFF2-40B4-BE49-F238E27FC236}">
                <a16:creationId xmlns:a16="http://schemas.microsoft.com/office/drawing/2014/main" id="{03FF5BB9-0389-4E58-A77A-EFC96CA7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4507"/>
            <a:ext cx="4867275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um organizador ou um</a:t>
            </a:r>
          </a:p>
        </p:txBody>
      </p:sp>
      <p:sp>
        <p:nvSpPr>
          <p:cNvPr id="9" name="s28-text-8">
            <a:extLst xmlns:a="http://schemas.openxmlformats.org/drawingml/2006/main">
              <a:ext uri="{FF2B5EF4-FFF2-40B4-BE49-F238E27FC236}">
                <a16:creationId xmlns:a16="http://schemas.microsoft.com/office/drawing/2014/main" id="{7A51B3A0-0EAE-40AF-AD9C-4C66A2BB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4264"/>
            <a:ext cx="4867275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recurso para aprender.</a:t>
            </a:r>
          </a:p>
        </p:txBody>
      </p:sp>
      <p:sp>
        <p:nvSpPr>
          <p:cNvPr id="10" name="s28-text-9">
            <a:extLst xmlns:a="http://schemas.openxmlformats.org/drawingml/2006/main">
              <a:ext uri="{FF2B5EF4-FFF2-40B4-BE49-F238E27FC236}">
                <a16:creationId xmlns:a16="http://schemas.microsoft.com/office/drawing/2014/main" id="{A7A4EEC5-D90F-405C-8717-FF89D47E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52625"/>
            <a:ext cx="4762500" cy="363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Desenhe</a:t>
            </a:r>
          </a:p>
        </p:txBody>
      </p:sp>
      <p:sp>
        <p:nvSpPr>
          <p:cNvPr id="11" name="s28-text-10">
            <a:extLst xmlns:a="http://schemas.openxmlformats.org/drawingml/2006/main">
              <a:ext uri="{FF2B5EF4-FFF2-40B4-BE49-F238E27FC236}">
                <a16:creationId xmlns:a16="http://schemas.microsoft.com/office/drawing/2014/main" id="{4CE1FF1D-5168-49CE-9B7F-7B62812B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90775"/>
            <a:ext cx="4762500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Mostre a forma e a função.</a:t>
            </a:r>
          </a:p>
        </p:txBody>
      </p:sp>
      <p:sp>
        <p:nvSpPr>
          <p:cNvPr id="12" name="s28-text-11">
            <a:extLst xmlns:a="http://schemas.openxmlformats.org/drawingml/2006/main">
              <a:ext uri="{FF2B5EF4-FFF2-40B4-BE49-F238E27FC236}">
                <a16:creationId xmlns:a16="http://schemas.microsoft.com/office/drawing/2014/main" id="{1D864EA2-FCAD-471C-81F1-C1E1F5F2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24200"/>
            <a:ext cx="4762500" cy="363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Meça</a:t>
            </a:r>
          </a:p>
        </p:txBody>
      </p:sp>
      <p:sp>
        <p:nvSpPr>
          <p:cNvPr id="13" name="s28-text-12">
            <a:extLst xmlns:a="http://schemas.openxmlformats.org/drawingml/2006/main">
              <a:ext uri="{FF2B5EF4-FFF2-40B4-BE49-F238E27FC236}">
                <a16:creationId xmlns:a16="http://schemas.microsoft.com/office/drawing/2014/main" id="{AEDC833B-7E42-44A0-931B-DFBE39A1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62350"/>
            <a:ext cx="4762500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Anote dimensões em milímetros.</a:t>
            </a:r>
          </a:p>
        </p:txBody>
      </p:sp>
      <p:sp>
        <p:nvSpPr>
          <p:cNvPr id="14" name="s28-text-13">
            <a:extLst xmlns:a="http://schemas.openxmlformats.org/drawingml/2006/main">
              <a:ext uri="{FF2B5EF4-FFF2-40B4-BE49-F238E27FC236}">
                <a16:creationId xmlns:a16="http://schemas.microsoft.com/office/drawing/2014/main" id="{791689DC-E67D-4F7D-A28E-B5A30CBF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95775"/>
            <a:ext cx="4762500" cy="363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Pense na impressão</a:t>
            </a:r>
          </a:p>
        </p:txBody>
      </p:sp>
      <p:sp>
        <p:nvSpPr>
          <p:cNvPr id="15" name="s28-text-14">
            <a:extLst xmlns:a="http://schemas.openxmlformats.org/drawingml/2006/main">
              <a:ext uri="{FF2B5EF4-FFF2-40B4-BE49-F238E27FC236}">
                <a16:creationId xmlns:a16="http://schemas.microsoft.com/office/drawing/2014/main" id="{26BABAD3-0DF8-425B-A028-9D6FC023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33925"/>
            <a:ext cx="4762500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Escolha uma base e uma região difícil.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F0C08-0340-4C7A-94C5-D32331B6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17" name="s28-text-15">
            <a:extLst xmlns:a="http://schemas.openxmlformats.org/drawingml/2006/main">
              <a:ext uri="{FF2B5EF4-FFF2-40B4-BE49-F238E27FC236}">
                <a16:creationId xmlns:a16="http://schemas.microsoft.com/office/drawing/2014/main" id="{61F6CBF2-8A7D-4301-8E1C-7AA833F4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81675"/>
            <a:ext cx="10563225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O objetivo é explicar uma ideia viável, sem precisar imprimir agora.</a:t>
            </a:r>
          </a:p>
        </p:txBody>
      </p:sp>
    </p:spTree>
    <p:extLst>
      <p:ext uri="{BB962C8B-B14F-4D97-AF65-F5344CB8AC3E}">
        <p14:creationId xmlns:p14="http://schemas.microsoft.com/office/powerpoint/2010/main" val="69858418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29-text-1">
            <a:extLst xmlns:a="http://schemas.openxmlformats.org/drawingml/2006/main">
              <a:ext uri="{FF2B5EF4-FFF2-40B4-BE49-F238E27FC236}">
                <a16:creationId xmlns:a16="http://schemas.microsoft.com/office/drawing/2014/main" id="{3E681B9B-0F76-48EF-9124-5618726A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Apresente uma escolha e uma dúvida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2ED9D-F766-452C-AC89-17BAD9AC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29-text-2">
            <a:extLst xmlns:a="http://schemas.openxmlformats.org/drawingml/2006/main">
              <a:ext uri="{FF2B5EF4-FFF2-40B4-BE49-F238E27FC236}">
                <a16:creationId xmlns:a16="http://schemas.microsoft.com/office/drawing/2014/main" id="{50F3F7AA-AFC2-468A-B11C-FED3E540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Compartilhamento | 5 min</a:t>
            </a:r>
          </a:p>
        </p:txBody>
      </p:sp>
      <p:sp>
        <p:nvSpPr>
          <p:cNvPr id="4" name="s29-text-3">
            <a:extLst xmlns:a="http://schemas.openxmlformats.org/drawingml/2006/main">
              <a:ext uri="{FF2B5EF4-FFF2-40B4-BE49-F238E27FC236}">
                <a16:creationId xmlns:a16="http://schemas.microsoft.com/office/drawing/2014/main" id="{AF187C26-E00A-4FB4-9723-505FA0F9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s29-text-4">
            <a:extLst xmlns:a="http://schemas.openxmlformats.org/drawingml/2006/main">
              <a:ext uri="{FF2B5EF4-FFF2-40B4-BE49-F238E27FC236}">
                <a16:creationId xmlns:a16="http://schemas.microsoft.com/office/drawing/2014/main" id="{96E440A9-A207-4D99-BB3A-091DBC49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858500" cy="632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Nossa peça ajuda...</a:t>
            </a:r>
          </a:p>
        </p:txBody>
      </p:sp>
      <p:sp>
        <p:nvSpPr>
          <p:cNvPr id="6" name="s29-text-5">
            <a:extLst xmlns:a="http://schemas.openxmlformats.org/drawingml/2006/main">
              <a:ext uri="{FF2B5EF4-FFF2-40B4-BE49-F238E27FC236}">
                <a16:creationId xmlns:a16="http://schemas.microsoft.com/office/drawing/2014/main" id="{88157F97-01D4-4315-9C13-65CF22AD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858500" cy="562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Escolhemos estas medidas porque...</a:t>
            </a:r>
          </a:p>
        </p:txBody>
      </p:sp>
      <p:sp>
        <p:nvSpPr>
          <p:cNvPr id="7" name="s29-text-6">
            <a:extLst xmlns:a="http://schemas.openxmlformats.org/drawingml/2006/main">
              <a:ext uri="{FF2B5EF4-FFF2-40B4-BE49-F238E27FC236}">
                <a16:creationId xmlns:a16="http://schemas.microsoft.com/office/drawing/2014/main" id="{24B23BE1-CEE4-4F44-B018-F287C6EA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8585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Antes de imprimir, precisamos descobrir...</a:t>
            </a:r>
          </a:p>
        </p:txBody>
      </p:sp>
    </p:spTree>
    <p:extLst>
      <p:ext uri="{BB962C8B-B14F-4D97-AF65-F5344CB8AC3E}">
        <p14:creationId xmlns:p14="http://schemas.microsoft.com/office/powerpoint/2010/main" val="43994578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30-text-1">
            <a:extLst xmlns:a="http://schemas.openxmlformats.org/drawingml/2006/main">
              <a:ext uri="{FF2B5EF4-FFF2-40B4-BE49-F238E27FC236}">
                <a16:creationId xmlns:a16="http://schemas.microsoft.com/office/drawing/2014/main" id="{D02645F5-842E-4BD9-9CF6-533A244D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Antes de sair: três respostas rápidas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0ED8D-BA0F-41AD-9AA7-D2840584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30-text-2">
            <a:extLst xmlns:a="http://schemas.openxmlformats.org/drawingml/2006/main">
              <a:ext uri="{FF2B5EF4-FFF2-40B4-BE49-F238E27FC236}">
                <a16:creationId xmlns:a16="http://schemas.microsoft.com/office/drawing/2014/main" id="{0BF04B3B-FBFD-4C6B-84CF-BDB988C4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Verificação de aprendizagem | 4 min</a:t>
            </a:r>
          </a:p>
        </p:txBody>
      </p:sp>
      <p:sp>
        <p:nvSpPr>
          <p:cNvPr id="4" name="s30-text-3">
            <a:extLst xmlns:a="http://schemas.openxmlformats.org/drawingml/2006/main">
              <a:ext uri="{FF2B5EF4-FFF2-40B4-BE49-F238E27FC236}">
                <a16:creationId xmlns:a16="http://schemas.microsoft.com/office/drawing/2014/main" id="{6FF5CFA2-6080-4293-BC53-C5F3FEBB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s30-text-4">
            <a:extLst xmlns:a="http://schemas.openxmlformats.org/drawingml/2006/main">
              <a:ext uri="{FF2B5EF4-FFF2-40B4-BE49-F238E27FC236}">
                <a16:creationId xmlns:a16="http://schemas.microsoft.com/office/drawing/2014/main" id="{CB88A490-C6E3-4D71-BDAB-24EB7D26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30-text-5">
            <a:extLst xmlns:a="http://schemas.openxmlformats.org/drawingml/2006/main">
              <a:ext uri="{FF2B5EF4-FFF2-40B4-BE49-F238E27FC236}">
                <a16:creationId xmlns:a16="http://schemas.microsoft.com/office/drawing/2014/main" id="{05D8AA9B-7A90-4AF8-8C39-61AE7717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05000"/>
            <a:ext cx="101346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Cite dois riscos da impressora</a:t>
            </a:r>
          </a:p>
        </p:txBody>
      </p:sp>
      <p:sp>
        <p:nvSpPr>
          <p:cNvPr id="7" name="s30-text-6">
            <a:extLst xmlns:a="http://schemas.openxmlformats.org/drawingml/2006/main">
              <a:ext uri="{FF2B5EF4-FFF2-40B4-BE49-F238E27FC236}">
                <a16:creationId xmlns:a16="http://schemas.microsoft.com/office/drawing/2014/main" id="{4A4113B6-310A-4A0E-9150-DA1715CE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05050"/>
            <a:ext cx="101346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E diga o que fazer para evitá-los.</a:t>
            </a:r>
          </a:p>
        </p:txBody>
      </p:sp>
      <p:sp>
        <p:nvSpPr>
          <p:cNvPr id="8" name="s30-text-7">
            <a:extLst xmlns:a="http://schemas.openxmlformats.org/drawingml/2006/main">
              <a:ext uri="{FF2B5EF4-FFF2-40B4-BE49-F238E27FC236}">
                <a16:creationId xmlns:a16="http://schemas.microsoft.com/office/drawing/2014/main" id="{966492CD-2BB2-4C62-ACDD-7E53ED91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30-text-8">
            <a:extLst xmlns:a="http://schemas.openxmlformats.org/drawingml/2006/main">
              <a:ext uri="{FF2B5EF4-FFF2-40B4-BE49-F238E27FC236}">
                <a16:creationId xmlns:a16="http://schemas.microsoft.com/office/drawing/2014/main" id="{60ED9A24-116D-4713-942D-27FEFCB2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101346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Ordene: impressão, modelagem, fatiamento</a:t>
            </a:r>
          </a:p>
        </p:txBody>
      </p:sp>
      <p:sp>
        <p:nvSpPr>
          <p:cNvPr id="10" name="s30-text-9">
            <a:extLst xmlns:a="http://schemas.openxmlformats.org/drawingml/2006/main">
              <a:ext uri="{FF2B5EF4-FFF2-40B4-BE49-F238E27FC236}">
                <a16:creationId xmlns:a16="http://schemas.microsoft.com/office/drawing/2014/main" id="{EAFDABE8-5F35-45D6-8F3B-7805216E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9975"/>
            <a:ext cx="101346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Explique a função de uma dessas etapas.</a:t>
            </a:r>
          </a:p>
        </p:txBody>
      </p:sp>
      <p:sp>
        <p:nvSpPr>
          <p:cNvPr id="11" name="s30-text-10">
            <a:extLst xmlns:a="http://schemas.openxmlformats.org/drawingml/2006/main">
              <a:ext uri="{FF2B5EF4-FFF2-40B4-BE49-F238E27FC236}">
                <a16:creationId xmlns:a16="http://schemas.microsoft.com/office/drawing/2014/main" id="{85AD85AD-21CA-4BCC-8517-F5063A34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64770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859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859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s30-text-11">
            <a:extLst xmlns:a="http://schemas.openxmlformats.org/drawingml/2006/main">
              <a:ext uri="{FF2B5EF4-FFF2-40B4-BE49-F238E27FC236}">
                <a16:creationId xmlns:a16="http://schemas.microsoft.com/office/drawing/2014/main" id="{CEBF8FCF-D677-48D1-8567-223DD041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101346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Quanto custa 25 g a R$ 100/kg?</a:t>
            </a:r>
          </a:p>
        </p:txBody>
      </p:sp>
      <p:sp>
        <p:nvSpPr>
          <p:cNvPr id="13" name="s30-text-12">
            <a:extLst xmlns:a="http://schemas.openxmlformats.org/drawingml/2006/main">
              <a:ext uri="{FF2B5EF4-FFF2-40B4-BE49-F238E27FC236}">
                <a16:creationId xmlns:a16="http://schemas.microsoft.com/office/drawing/2014/main" id="{82A129B0-3C8C-4F21-A56D-079F992E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14900"/>
            <a:ext cx="101346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Considere somente o filamento.</a:t>
            </a:r>
          </a:p>
        </p:txBody>
      </p:sp>
    </p:spTree>
    <p:extLst>
      <p:ext uri="{BB962C8B-B14F-4D97-AF65-F5344CB8AC3E}">
        <p14:creationId xmlns:p14="http://schemas.microsoft.com/office/powerpoint/2010/main" val="79453522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22D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31-text-1">
            <a:extLst xmlns:a="http://schemas.openxmlformats.org/drawingml/2006/main">
              <a:ext uri="{FF2B5EF4-FFF2-40B4-BE49-F238E27FC236}">
                <a16:creationId xmlns:a16="http://schemas.microsoft.com/office/drawing/2014/main" id="{045A730F-E076-424A-B3E7-15E8A9B9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D7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D7DF"/>
                </a:solidFill>
                <a:latin typeface="Arial"/>
                <a:ea typeface="Arial"/>
                <a:cs typeface="Arial"/>
              </a:rPr>
              <a:t>Fechamento | 21:59-22:00</a:t>
            </a:r>
          </a:p>
        </p:txBody>
      </p:sp>
      <p:sp>
        <p:nvSpPr>
          <p:cNvPr id="2" name="s31-text-2">
            <a:extLst xmlns:a="http://schemas.openxmlformats.org/drawingml/2006/main">
              <a:ext uri="{FF2B5EF4-FFF2-40B4-BE49-F238E27FC236}">
                <a16:creationId xmlns:a16="http://schemas.microsoft.com/office/drawing/2014/main" id="{6913A468-8662-437B-B266-BCEEF34C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9D7D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D7DF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3" name="s31-text-3">
            <a:extLst xmlns:a="http://schemas.openxmlformats.org/drawingml/2006/main">
              <a:ext uri="{FF2B5EF4-FFF2-40B4-BE49-F238E27FC236}">
                <a16:creationId xmlns:a16="http://schemas.microsoft.com/office/drawing/2014/main" id="{0A67C250-13DE-496F-AF5A-7A05EEA1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763250" cy="738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Uma ideia ganha forma</a:t>
            </a:r>
          </a:p>
        </p:txBody>
      </p:sp>
      <p:sp>
        <p:nvSpPr>
          <p:cNvPr id="4" name="s31-text-4">
            <a:extLst xmlns:a="http://schemas.openxmlformats.org/drawingml/2006/main">
              <a:ext uri="{FF2B5EF4-FFF2-40B4-BE49-F238E27FC236}">
                <a16:creationId xmlns:a16="http://schemas.microsoft.com/office/drawing/2014/main" id="{BCCECE93-D89B-45A8-A715-09B8A9C8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7817"/>
            <a:ext cx="10763250" cy="738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 escolhas e testes</a:t>
            </a:r>
          </a:p>
        </p:txBody>
      </p:sp>
      <p:sp>
        <p:nvSpPr>
          <p:cNvPr id="5" name="s31-text-5">
            <a:extLst xmlns:a="http://schemas.openxmlformats.org/drawingml/2006/main">
              <a:ext uri="{FF2B5EF4-FFF2-40B4-BE49-F238E27FC236}">
                <a16:creationId xmlns:a16="http://schemas.microsoft.com/office/drawing/2014/main" id="{78A4F410-0984-496C-AE6C-33B907A1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76650"/>
            <a:ext cx="10620375" cy="386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B9D7D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B9D7DF"/>
                </a:solidFill>
                <a:latin typeface="Arial"/>
                <a:ea typeface="Arial"/>
                <a:cs typeface="Arial"/>
              </a:rPr>
              <a:t>Hoje: processo, segurança e custo.</a:t>
            </a:r>
          </a:p>
        </p:txBody>
      </p:sp>
      <p:sp>
        <p:nvSpPr>
          <p:cNvPr id="6" name="s31-text-6">
            <a:extLst xmlns:a="http://schemas.openxmlformats.org/drawingml/2006/main">
              <a:ext uri="{FF2B5EF4-FFF2-40B4-BE49-F238E27FC236}">
                <a16:creationId xmlns:a16="http://schemas.microsoft.com/office/drawing/2014/main" id="{6720048C-302B-4C61-BB4D-B781F38C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63270"/>
            <a:ext cx="10620375" cy="386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B9D7D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B9D7DF"/>
                </a:solidFill>
                <a:latin typeface="Arial"/>
                <a:ea typeface="Arial"/>
                <a:cs typeface="Arial"/>
              </a:rPr>
              <a:t>Nos próximos encontros: materiais, modelagem</a:t>
            </a:r>
          </a:p>
        </p:txBody>
      </p:sp>
      <p:sp>
        <p:nvSpPr>
          <p:cNvPr id="7" name="s31-text-7">
            <a:extLst xmlns:a="http://schemas.openxmlformats.org/drawingml/2006/main">
              <a:ext uri="{FF2B5EF4-FFF2-40B4-BE49-F238E27FC236}">
                <a16:creationId xmlns:a16="http://schemas.microsoft.com/office/drawing/2014/main" id="{E3CACE5F-537D-4F37-88B8-8E2F299A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49889"/>
            <a:ext cx="10620375" cy="386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B9D7D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B9D7DF"/>
                </a:solidFill>
                <a:latin typeface="Arial"/>
                <a:ea typeface="Arial"/>
                <a:cs typeface="Arial"/>
              </a:rPr>
              <a:t>e preparação da sua própria peça.</a:t>
            </a:r>
          </a:p>
        </p:txBody>
      </p:sp>
    </p:spTree>
    <p:extLst>
      <p:ext uri="{BB962C8B-B14F-4D97-AF65-F5344CB8AC3E}">
        <p14:creationId xmlns:p14="http://schemas.microsoft.com/office/powerpoint/2010/main" val="74556779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32-text-1">
            <a:extLst xmlns:a="http://schemas.openxmlformats.org/drawingml/2006/main">
              <a:ext uri="{FF2B5EF4-FFF2-40B4-BE49-F238E27FC236}">
                <a16:creationId xmlns:a16="http://schemas.microsoft.com/office/drawing/2014/main" id="{B42BC2AA-0867-4663-A312-35FD7FAE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Fontes para consultar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92606-6E62-428B-BD29-058E9E12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32-text-2">
            <a:extLst xmlns:a="http://schemas.openxmlformats.org/drawingml/2006/main">
              <a:ext uri="{FF2B5EF4-FFF2-40B4-BE49-F238E27FC236}">
                <a16:creationId xmlns:a16="http://schemas.microsoft.com/office/drawing/2014/main" id="{1AB32FFA-1965-46A8-835E-EE14D7BB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Referências | apoio ao professor</a:t>
            </a:r>
          </a:p>
        </p:txBody>
      </p:sp>
      <p:sp>
        <p:nvSpPr>
          <p:cNvPr id="4" name="s32-text-3">
            <a:extLst xmlns:a="http://schemas.openxmlformats.org/drawingml/2006/main">
              <a:ext uri="{FF2B5EF4-FFF2-40B4-BE49-F238E27FC236}">
                <a16:creationId xmlns:a16="http://schemas.microsoft.com/office/drawing/2014/main" id="{7036F138-5411-4F8F-810D-DFF0BB84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5" name="s32-text-4">
            <a:extLst xmlns:a="http://schemas.openxmlformats.org/drawingml/2006/main">
              <a:ext uri="{FF2B5EF4-FFF2-40B4-BE49-F238E27FC236}">
                <a16:creationId xmlns:a16="http://schemas.microsoft.com/office/drawing/2014/main" id="{AEAC7B51-CD7A-4575-8F06-400F23FF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763250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Creality K1C</a:t>
            </a:r>
          </a:p>
        </p:txBody>
      </p:sp>
      <p:sp>
        <p:nvSpPr>
          <p:cNvPr id="6" name="s32-text-5">
            <a:extLst xmlns:a="http://schemas.openxmlformats.org/drawingml/2006/main">
              <a:ext uri="{FF2B5EF4-FFF2-40B4-BE49-F238E27FC236}">
                <a16:creationId xmlns:a16="http://schemas.microsoft.com/office/drawing/2014/main" id="{D32A090E-5E32-41BA-933E-BC5CAA2F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763250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Manual oficial: componentes, operação e especificações</a:t>
            </a:r>
          </a:p>
        </p:txBody>
      </p:sp>
      <p:sp>
        <p:nvSpPr>
          <p:cNvPr id="7" name="s32-text-6">
            <a:extLst xmlns:a="http://schemas.openxmlformats.org/drawingml/2006/main">
              <a:ext uri="{FF2B5EF4-FFF2-40B4-BE49-F238E27FC236}">
                <a16:creationId xmlns:a16="http://schemas.microsoft.com/office/drawing/2014/main" id="{AD5BCFCB-3AC0-4ADE-9070-6090044E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10763250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NIOSH</a:t>
            </a:r>
          </a:p>
        </p:txBody>
      </p:sp>
      <p:sp>
        <p:nvSpPr>
          <p:cNvPr id="8" name="s32-text-7">
            <a:extLst xmlns:a="http://schemas.openxmlformats.org/drawingml/2006/main">
              <a:ext uri="{FF2B5EF4-FFF2-40B4-BE49-F238E27FC236}">
                <a16:creationId xmlns:a16="http://schemas.microsoft.com/office/drawing/2014/main" id="{BD1392FC-C97D-41F7-99B8-BA8CFFBE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0763250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Approaches to safe 3D printing: ambientes de ensino</a:t>
            </a:r>
          </a:p>
        </p:txBody>
      </p:sp>
      <p:sp>
        <p:nvSpPr>
          <p:cNvPr id="9" name="s32-text-8">
            <a:extLst xmlns:a="http://schemas.openxmlformats.org/drawingml/2006/main">
              <a:ext uri="{FF2B5EF4-FFF2-40B4-BE49-F238E27FC236}">
                <a16:creationId xmlns:a16="http://schemas.microsoft.com/office/drawing/2014/main" id="{0E6B7A18-5AF6-4D4B-B73D-64FDA22F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763250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3D Systems</a:t>
            </a:r>
          </a:p>
        </p:txBody>
      </p:sp>
      <p:sp>
        <p:nvSpPr>
          <p:cNvPr id="10" name="s32-text-9">
            <a:extLst xmlns:a="http://schemas.openxmlformats.org/drawingml/2006/main">
              <a:ext uri="{FF2B5EF4-FFF2-40B4-BE49-F238E27FC236}">
                <a16:creationId xmlns:a16="http://schemas.microsoft.com/office/drawing/2014/main" id="{224098F0-D1A1-4923-8625-8087A241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763250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Marcos históricos da estereolitografia</a:t>
            </a:r>
          </a:p>
        </p:txBody>
      </p:sp>
      <p:sp>
        <p:nvSpPr>
          <p:cNvPr id="11" name="s32-text-10">
            <a:extLst xmlns:a="http://schemas.openxmlformats.org/drawingml/2006/main">
              <a:ext uri="{FF2B5EF4-FFF2-40B4-BE49-F238E27FC236}">
                <a16:creationId xmlns:a16="http://schemas.microsoft.com/office/drawing/2014/main" id="{BBDA6807-2956-49C4-AD7A-F171BB5E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763250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US5121329A</a:t>
            </a:r>
          </a:p>
        </p:txBody>
      </p:sp>
      <p:sp>
        <p:nvSpPr>
          <p:cNvPr id="12" name="s32-text-11">
            <a:extLst xmlns:a="http://schemas.openxmlformats.org/drawingml/2006/main">
              <a:ext uri="{FF2B5EF4-FFF2-40B4-BE49-F238E27FC236}">
                <a16:creationId xmlns:a16="http://schemas.microsoft.com/office/drawing/2014/main" id="{37FA0C65-E9AE-4339-90CF-5FC51477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763250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Registro da patente: depósito em 1989; concessão em 1992</a:t>
            </a:r>
          </a:p>
        </p:txBody>
      </p:sp>
      <p:sp>
        <p:nvSpPr>
          <p:cNvPr id="13" name="s32-text-12">
            <a:extLst xmlns:a="http://schemas.openxmlformats.org/drawingml/2006/main">
              <a:ext uri="{FF2B5EF4-FFF2-40B4-BE49-F238E27FC236}">
                <a16:creationId xmlns:a16="http://schemas.microsoft.com/office/drawing/2014/main" id="{703BDA64-8AAA-4F41-8640-56E76FC9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8585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Clique em cada referência no PDF. Consulta: 23/09/2026.</a:t>
            </a:r>
          </a:p>
        </p:txBody>
      </p:sp>
    </p:spTree>
    <p:extLst>
      <p:ext uri="{BB962C8B-B14F-4D97-AF65-F5344CB8AC3E}">
        <p14:creationId xmlns:p14="http://schemas.microsoft.com/office/powerpoint/2010/main" val="46493700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33-text-1">
            <a:extLst xmlns:a="http://schemas.openxmlformats.org/drawingml/2006/main">
              <a:ext uri="{FF2B5EF4-FFF2-40B4-BE49-F238E27FC236}">
                <a16:creationId xmlns:a16="http://schemas.microsoft.com/office/drawing/2014/main" id="{DA9FCC68-1054-407F-8C1E-904A1086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2"/>
                </a:solidFill>
                <a:latin typeface="Arial"/>
                <a:ea typeface="Arial"/>
                <a:cs typeface="Arial"/>
              </a:rPr>
              <a:t>Imagens técnicas e aprofundamento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ACA99-222D-4D44-8CB7-51269F0B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92D"/>
          </a:solidFill>
          <a:ln xmlns:a="http://schemas.openxmlformats.org/drawingml/2006/main" w="0">
            <a:noFill/>
          </a:ln>
        </p:spPr>
      </p:sp>
      <p:sp>
        <p:nvSpPr>
          <p:cNvPr id="3" name="s33-text-2">
            <a:extLst xmlns:a="http://schemas.openxmlformats.org/drawingml/2006/main">
              <a:ext uri="{FF2B5EF4-FFF2-40B4-BE49-F238E27FC236}">
                <a16:creationId xmlns:a16="http://schemas.microsoft.com/office/drawing/2014/main" id="{E8372186-41A3-4768-BF70-EA7FFE98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19175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Referências | apoio ao professor</a:t>
            </a:r>
          </a:p>
        </p:txBody>
      </p:sp>
      <p:sp>
        <p:nvSpPr>
          <p:cNvPr id="4" name="s33-text-3">
            <a:extLst xmlns:a="http://schemas.openxmlformats.org/drawingml/2006/main">
              <a:ext uri="{FF2B5EF4-FFF2-40B4-BE49-F238E27FC236}">
                <a16:creationId xmlns:a16="http://schemas.microsoft.com/office/drawing/2014/main" id="{6514F47E-FD52-4D3B-BDA9-766F5B39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5" name="s33-text-4">
            <a:extLst xmlns:a="http://schemas.openxmlformats.org/drawingml/2006/main">
              <a:ext uri="{FF2B5EF4-FFF2-40B4-BE49-F238E27FC236}">
                <a16:creationId xmlns:a16="http://schemas.microsoft.com/office/drawing/2014/main" id="{173CE920-FD2B-485D-A027-46309512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801350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Prusa: altura de camada e perímetros</a:t>
            </a:r>
          </a:p>
        </p:txBody>
      </p:sp>
      <p:sp>
        <p:nvSpPr>
          <p:cNvPr id="6" name="s33-text-5">
            <a:extLst xmlns:a="http://schemas.openxmlformats.org/drawingml/2006/main">
              <a:ext uri="{FF2B5EF4-FFF2-40B4-BE49-F238E27FC236}">
                <a16:creationId xmlns:a16="http://schemas.microsoft.com/office/drawing/2014/main" id="{158301B1-0F8F-4604-A4BE-99359802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801350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Prusa: preenchimento</a:t>
            </a:r>
          </a:p>
        </p:txBody>
      </p:sp>
      <p:sp>
        <p:nvSpPr>
          <p:cNvPr id="7" name="s33-text-6">
            <a:extLst xmlns:a="http://schemas.openxmlformats.org/drawingml/2006/main">
              <a:ext uri="{FF2B5EF4-FFF2-40B4-BE49-F238E27FC236}">
                <a16:creationId xmlns:a16="http://schemas.microsoft.com/office/drawing/2014/main" id="{0006B05F-A582-4823-8EA5-A69A32BA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801350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Prusa: estruturas de suporte</a:t>
            </a:r>
          </a:p>
        </p:txBody>
      </p:sp>
      <p:sp>
        <p:nvSpPr>
          <p:cNvPr id="8" name="s33-text-7">
            <a:extLst xmlns:a="http://schemas.openxmlformats.org/drawingml/2006/main">
              <a:ext uri="{FF2B5EF4-FFF2-40B4-BE49-F238E27FC236}">
                <a16:creationId xmlns:a16="http://schemas.microsoft.com/office/drawing/2014/main" id="{BA49D6F2-342E-4112-96CE-2AD9BC94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801350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Prusa: aspecto da primeira camada</a:t>
            </a:r>
          </a:p>
        </p:txBody>
      </p:sp>
      <p:sp>
        <p:nvSpPr>
          <p:cNvPr id="9" name="s33-text-8">
            <a:extLst xmlns:a="http://schemas.openxmlformats.org/drawingml/2006/main">
              <a:ext uri="{FF2B5EF4-FFF2-40B4-BE49-F238E27FC236}">
                <a16:creationId xmlns:a16="http://schemas.microsoft.com/office/drawing/2014/main" id="{B7F75A36-E295-4ED1-9988-F5F9F62E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801350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Prusa: características do PLA</a:t>
            </a:r>
          </a:p>
        </p:txBody>
      </p:sp>
      <p:sp>
        <p:nvSpPr>
          <p:cNvPr id="10" name="s33-text-9">
            <a:extLst xmlns:a="http://schemas.openxmlformats.org/drawingml/2006/main">
              <a:ext uri="{FF2B5EF4-FFF2-40B4-BE49-F238E27FC236}">
                <a16:creationId xmlns:a16="http://schemas.microsoft.com/office/drawing/2014/main" id="{74E96349-3E06-4C4E-B256-1C0A1CD0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5375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Imagens usadas para comparação didática; parâmetros dependem da máquina e do material.</a:t>
            </a:r>
          </a:p>
        </p:txBody>
      </p:sp>
    </p:spTree>
    <p:extLst>
      <p:ext uri="{BB962C8B-B14F-4D97-AF65-F5344CB8AC3E}">
        <p14:creationId xmlns:p14="http://schemas.microsoft.com/office/powerpoint/2010/main" val="2212683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2026-09-23T19:37:47.4660000Z</dcterms:created>
  <dcterms:modified xsi:type="dcterms:W3CDTF">2026-09-23T19:37:47.4660000Z</dcterms:modified>
</coreProperties>
</file>